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4" r:id="rId15"/>
    <p:sldId id="266" r:id="rId17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6" r:id="rId407"/>
    <p:sldId id="657" r:id="rId408"/>
    <p:sldId id="658" r:id="rId409"/>
    <p:sldId id="661" r:id="rId412"/>
    <p:sldId id="662" r:id="rId4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7" Type="http://schemas.openxmlformats.org/officeDocument/2006/relationships/slide" Target="slides/slide11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CVSS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Sheet1!$A$2:$A$6</c:f>
              <c:strCache>
                <c:ptCount val="5"/>
                <c:pt idx="0">
                  <c:v>V1 Gateway</c:v>
                </c:pt>
                <c:pt idx="1">
                  <c:v>V2 Identity</c:v>
                </c:pt>
                <c:pt idx="2">
                  <c:v>V3 Dev</c:v>
                </c:pt>
                <c:pt idx="3">
                  <c:v>V4 Data</c:v>
                </c:pt>
                <c:pt idx="4">
                  <c:v>V5 Endpoint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9.8</c:v>
                </c:pt>
                <c:pt idx="1">
                  <c:v>8.8</c:v>
                </c:pt>
                <c:pt idx="2">
                  <c:v>7.5</c:v>
                </c:pt>
                <c:pt idx="3">
                  <c:v>9.1</c:v>
                </c:pt>
                <c:pt idx="4">
                  <c:v>6.5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Context risk</c:v>
                </c:pt>
              </c:strCache>
            </c:strRef>
          </c:tx>
          <c:spPr>
            <a:solidFill>
              <a:srgbClr val="6D3FD2"/>
            </a:solidFill>
            <a:ln>
              <a:solidFill>
                <a:srgbClr val="6D3FD2"/>
              </a:solidFill>
            </a:ln>
          </c:spPr>
          <c:cat>
            <c:strRef>
              <c:f>Sheet1!$A$2:$A$6</c:f>
              <c:strCache>
                <c:ptCount val="5"/>
                <c:pt idx="0">
                  <c:v>V1 Gateway</c:v>
                </c:pt>
                <c:pt idx="1">
                  <c:v>V2 Identity</c:v>
                </c:pt>
                <c:pt idx="2">
                  <c:v>V3 Dev</c:v>
                </c:pt>
                <c:pt idx="3">
                  <c:v>V4 Data</c:v>
                </c:pt>
                <c:pt idx="4">
                  <c:v>V5 Endpoint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6.1</c:v>
                </c:pt>
                <c:pt idx="1">
                  <c:v>9.2</c:v>
                </c:pt>
                <c:pt idx="2">
                  <c:v>4.8</c:v>
                </c:pt>
                <c:pt idx="3">
                  <c:v>7.0</c:v>
                </c:pt>
                <c:pt idx="4">
                  <c:v>8.5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Finding / asset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7E0EA"/>
              </a:solidFill>
            </a:ln>
          </c:spPr>
        </c:majorGridlines>
        <c:title>
          <c:tx>
            <c:rich>
              <a:bodyPr/>
              <a:lstStyle/>
              <a:p>
                <a:r>
                  <a:t>Priority score (0-10)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Sheet1!$A$2:$A$10</c:f>
              <c:strCache>
                <c:ptCount val="9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0.91</c:v>
                </c:pt>
                <c:pt idx="1">
                  <c:v>0.88</c:v>
                </c:pt>
                <c:pt idx="2">
                  <c:v>0.84</c:v>
                </c:pt>
                <c:pt idx="3">
                  <c:v>0.79</c:v>
                </c:pt>
                <c:pt idx="4">
                  <c:v>0.73</c:v>
                </c:pt>
                <c:pt idx="5">
                  <c:v>0.66</c:v>
                </c:pt>
                <c:pt idx="6">
                  <c:v>0.58</c:v>
                </c:pt>
                <c:pt idx="7">
                  <c:v>0.49</c:v>
                </c:pt>
                <c:pt idx="8">
                  <c:v>0.41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6D3FD2"/>
            </a:solidFill>
            <a:ln>
              <a:solidFill>
                <a:srgbClr val="6D3FD2"/>
              </a:solidFill>
            </a:ln>
          </c:spPr>
          <c:cat>
            <c:strRef>
              <c:f>Sheet1!$A$2:$A$10</c:f>
              <c:strCache>
                <c:ptCount val="9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0.34</c:v>
                </c:pt>
                <c:pt idx="1">
                  <c:v>0.42</c:v>
                </c:pt>
                <c:pt idx="2">
                  <c:v>0.51</c:v>
                </c:pt>
                <c:pt idx="3">
                  <c:v>0.61</c:v>
                </c:pt>
                <c:pt idx="4">
                  <c:v>0.69</c:v>
                </c:pt>
                <c:pt idx="5">
                  <c:v>0.78</c:v>
                </c:pt>
                <c:pt idx="6">
                  <c:v>0.85</c:v>
                </c:pt>
                <c:pt idx="7">
                  <c:v>0.91</c:v>
                </c:pt>
                <c:pt idx="8">
                  <c:v>0.95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Decision threshold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7E0EA"/>
              </a:solidFill>
            </a:ln>
          </c:spPr>
        </c:majorGridlines>
        <c:title>
          <c:tx>
            <c:rich>
              <a:bodyPr/>
              <a:lstStyle/>
              <a:p>
                <a:r>
                  <a:t>Rate (0-1)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Use case A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Sheet1!$A$2:$A$6</c:f>
              <c:strCache>
                <c:ptCount val="5"/>
                <c:pt idx="0">
                  <c:v>Value</c:v>
                </c:pt>
                <c:pt idx="1">
                  <c:v>Data readiness</c:v>
                </c:pt>
                <c:pt idx="2">
                  <c:v>Integration</c:v>
                </c:pt>
                <c:pt idx="3">
                  <c:v>Risk</c:v>
                </c:pt>
                <c:pt idx="4">
                  <c:v>Operability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Use case B</c:v>
                </c:pt>
              </c:strCache>
            </c:strRef>
          </c:tx>
          <c:spPr>
            <a:solidFill>
              <a:srgbClr val="6D3FD2"/>
            </a:solidFill>
            <a:ln>
              <a:solidFill>
                <a:srgbClr val="6D3FD2"/>
              </a:solidFill>
            </a:ln>
          </c:spPr>
          <c:cat>
            <c:strRef>
              <c:f>Sheet1!$A$2:$A$6</c:f>
              <c:strCache>
                <c:ptCount val="5"/>
                <c:pt idx="0">
                  <c:v>Value</c:v>
                </c:pt>
                <c:pt idx="1">
                  <c:v>Data readiness</c:v>
                </c:pt>
                <c:pt idx="2">
                  <c:v>Integration</c:v>
                </c:pt>
                <c:pt idx="3">
                  <c:v>Risk</c:v>
                </c:pt>
                <c:pt idx="4">
                  <c:v>Operability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Selection dimension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7E0EA"/>
              </a:solidFill>
            </a:ln>
          </c:spPr>
        </c:majorGridlines>
        <c:title>
          <c:tx>
            <c:rich>
              <a:bodyPr/>
              <a:lstStyle/>
              <a:p>
                <a:r>
                  <a:t>Weighted score (1-5)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Model A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0.97</c:v>
                </c:pt>
                <c:pt idx="1">
                  <c:v>0.61</c:v>
                </c:pt>
                <c:pt idx="2">
                  <c:v>0.82</c:v>
                </c:pt>
                <c:pt idx="3">
                  <c:v>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B</c:v>
                </c:pt>
              </c:strCache>
            </c:strRef>
          </c:tx>
          <c:spPr>
            <a:solidFill>
              <a:srgbClr val="6D3FD2"/>
            </a:solidFill>
            <a:ln>
              <a:solidFill>
                <a:srgbClr val="6D3FD2"/>
              </a:solidFill>
            </a:ln>
          </c:spPr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0.96</c:v>
                </c:pt>
                <c:pt idx="1">
                  <c:v>0.74</c:v>
                </c:pt>
                <c:pt idx="2">
                  <c:v>0.66</c:v>
                </c:pt>
                <c:pt idx="3">
                  <c:v>0.7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Evaluation metric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7E0EA"/>
              </a:solidFill>
            </a:ln>
          </c:spPr>
        </c:majorGridlines>
        <c:title>
          <c:tx>
            <c:rich>
              <a:bodyPr/>
              <a:lstStyle/>
              <a:p>
                <a:r>
                  <a:t>Metric score (0-1)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PSI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Sheet1!$A$2:$A$7</c:f>
              <c:strCache>
                <c:ptCount val="6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  <c:pt idx="4">
                  <c:v>Week 5</c:v>
                </c:pt>
                <c:pt idx="5">
                  <c:v>Week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0.03</c:v>
                </c:pt>
                <c:pt idx="1">
                  <c:v>0.05</c:v>
                </c:pt>
                <c:pt idx="2">
                  <c:v>0.07</c:v>
                </c:pt>
                <c:pt idx="3">
                  <c:v>0.11</c:v>
                </c:pt>
                <c:pt idx="4">
                  <c:v>0.19</c:v>
                </c:pt>
                <c:pt idx="5">
                  <c:v>0.31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Evaluation window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7E0EA"/>
              </a:solidFill>
            </a:ln>
          </c:spPr>
        </c:majorGridlines>
        <c:title>
          <c:tx>
            <c:rich>
              <a:bodyPr/>
              <a:lstStyle/>
              <a:p>
                <a:r>
                  <a:t>Population Stability Index (PSI)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-cyber-soc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02920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572768"/>
            <a:ext cx="5257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8A73"/>
                </a:solidFill>
                <a:latin typeface="Arial"/>
              </a:rPr>
              <a:t>NON-WSQ · 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56816"/>
            <a:ext cx="539496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AI for Cyber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401568"/>
            <a:ext cx="5212080" cy="40233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Course Code: C434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858768"/>
            <a:ext cx="5212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Two days · 15 instructional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846320"/>
            <a:ext cx="5212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· 4 October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266944"/>
            <a:ext cx="539496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Tertiary Infotech Academy Pte Ltd · UEN 201200696W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080760"/>
            <a:ext cx="53949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Ltd. All rights reserved.</a:t>
            </a:r>
          </a:p>
        </p:txBody>
      </p:sp>
    </p:spTree>
  </p:cSld>
  <p:clrMapOvr>
    <a:masterClrMapping/>
  </p:clrMapOvr>
  <p:transition spd="fast" advClick="1">
    <p:push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5230368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2801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i-cyber-soc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616" y="1325880"/>
            <a:ext cx="5422392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1828800"/>
            <a:ext cx="4370832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76856"/>
            <a:ext cx="437083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Welcome to AI for Cyber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86200"/>
            <a:ext cx="4370832" cy="10241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Two days · 15 hours · theory and hands-on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fast" advClick="1"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TRAINER PROFILE 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 - General 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Course administration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Trainer: 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Qualifications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Relevant cyber and AI credentials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Experience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Industry and training experience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Approved support channel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Complete before delivery; retain this as a visual profile card.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NAMED 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 - Dr Alfred 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Course administration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Principal trainer and courseware developer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AI, cybersecurity, cloud and secure software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Approach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Mechanism-led teaching with evidence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Architecture choices must connect to practical evidence and business outcomes.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CONTEXT SETTING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Learner Introductions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Course administration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Your current role and organisation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Security, data or AI exposure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Outcome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decision you want to improve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Boundary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constraint or risk in your environment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Use learner context without sharing confidential incidents, credentials or personal data.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SAFE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Course administration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Authorised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only the synthetic data and supplied lab assets.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Explain conclusions from observed fields.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Privacy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Do not paste secrets or production logs into AI tools.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Treat AI output as a hypothesis until verified.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413A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Practice stays lawful, scoped, privacy-aware and reproducible.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ANNOTATED LMS/TMS SURFACE · NO CLICK-BY-CLICK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64208"/>
            <a:ext cx="754380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7543800" cy="5029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37943"/>
            <a:ext cx="128016" cy="128016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8992" y="1837943"/>
            <a:ext cx="128016" cy="12801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80160" y="1837943"/>
            <a:ext cx="128016" cy="12801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27632" y="1792224"/>
            <a:ext cx="6172200" cy="237744"/>
          </a:xfrm>
          <a:prstGeom prst="roundRect">
            <a:avLst/>
          </a:prstGeom>
          <a:solidFill>
            <a:srgbClr val="24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73936" y="1810512"/>
            <a:ext cx="580644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2450592"/>
            <a:ext cx="6903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AI for Cyber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2871216"/>
            <a:ext cx="6903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C434  ·  Current learner materials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" y="3401568"/>
            <a:ext cx="6903720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3493008"/>
            <a:ext cx="749808" cy="3108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493008"/>
            <a:ext cx="7498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3511296"/>
            <a:ext cx="43434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Learner Slides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3493008"/>
            <a:ext cx="987552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DOWNLOAD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" y="4059936"/>
            <a:ext cx="6903720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" y="4151376"/>
            <a:ext cx="749808" cy="3108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151376"/>
            <a:ext cx="7498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DOCX + PDF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169664"/>
            <a:ext cx="43434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Learner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4151376"/>
            <a:ext cx="987552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DOWNLOAD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4718304"/>
            <a:ext cx="6903720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7280" y="4809744"/>
            <a:ext cx="749808" cy="3108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809744"/>
            <a:ext cx="7498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12 folders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4828032"/>
            <a:ext cx="43434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Lab Package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11112" y="4809744"/>
            <a:ext cx="987552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DOWNLOAD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94192" y="1664208"/>
            <a:ext cx="309981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1901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9720" y="1883664"/>
            <a:ext cx="19385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Learner 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2148840"/>
            <a:ext cx="1938528" cy="3931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Slides, guide and labs</a:t>
            </a:r>
          </a:p>
        </p:txBody>
      </p:sp>
      <p:sp>
        <p:nvSpPr>
          <p:cNvPr id="38" name="Oval 37"/>
          <p:cNvSpPr/>
          <p:nvPr/>
        </p:nvSpPr>
        <p:spPr>
          <a:xfrm>
            <a:off x="8641080" y="2843784"/>
            <a:ext cx="384048" cy="38404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9720" y="2825496"/>
            <a:ext cx="19385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Version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3090672"/>
            <a:ext cx="1938528" cy="3931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Match the cover filename</a:t>
            </a:r>
          </a:p>
        </p:txBody>
      </p:sp>
      <p:sp>
        <p:nvSpPr>
          <p:cNvPr id="41" name="Oval 40"/>
          <p:cNvSpPr/>
          <p:nvPr/>
        </p:nvSpPr>
        <p:spPr>
          <a:xfrm>
            <a:off x="8641080" y="3785616"/>
            <a:ext cx="384048" cy="38404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9720" y="3767328"/>
            <a:ext cx="19385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Privacy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4032504"/>
            <a:ext cx="1938528" cy="3931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No credentials or production data</a:t>
            </a:r>
          </a:p>
        </p:txBody>
      </p:sp>
      <p:sp>
        <p:nvSpPr>
          <p:cNvPr id="44" name="Oval 43"/>
          <p:cNvSpPr/>
          <p:nvPr/>
        </p:nvSpPr>
        <p:spPr>
          <a:xfrm>
            <a:off x="8641080" y="47274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9720" y="4709160"/>
            <a:ext cx="19385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Procedure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9720" y="4974336"/>
            <a:ext cx="1938528" cy="3931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Detailed retrieval is in the LG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DELIVERY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Official course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2 days · 15 hours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Daily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9:30am – 5:30pm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Practice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8 hours hands-on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Format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Instructor-led classroom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Seven classroom hours + eight hands-on practical hours across two days.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15-HOUR LEARNING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- Two-Day Through-Line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Course administration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Day 1 · T1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Risk, telemetry and AI-assisted detection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Day 1 · 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Control gaps and AI security programme design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Day 2 · T3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SOC architecture, grounded assistance and guarded response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Day 2 · T4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Monitoring, governance and advice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Theory and practice alternate; detailed lab procedure remains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SUPPLEMENTARY PRACTICE · VISUAL PORTAL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Exam Portal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https://exams.tertiaryinfotech.com/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64208"/>
            <a:ext cx="754380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7543800" cy="5029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992" y="1792224"/>
            <a:ext cx="6629400" cy="237744"/>
          </a:xfrm>
          <a:prstGeom prst="roundRect">
            <a:avLst/>
          </a:prstGeom>
          <a:solidFill>
            <a:srgbClr val="24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1810512"/>
            <a:ext cx="626364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Arial"/>
              </a:rPr>
              <a:t>exams.tertiaryinfotech.com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68880"/>
            <a:ext cx="687628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Cybersecurity practice 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154680"/>
            <a:ext cx="196596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" y="3154680"/>
            <a:ext cx="1965960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456432"/>
            <a:ext cx="1600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Threats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913632"/>
            <a:ext cx="16002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Classify 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3154680"/>
            <a:ext cx="196596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3154680"/>
            <a:ext cx="1965960" cy="8229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3456432"/>
            <a:ext cx="1600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913632"/>
            <a:ext cx="16002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Explain the gap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0" y="3154680"/>
            <a:ext cx="196596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40680" y="3154680"/>
            <a:ext cx="1965960" cy="8229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3456432"/>
            <a:ext cx="1600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3913632"/>
            <a:ext cx="16002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Choose a boundary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5010912"/>
            <a:ext cx="6876288" cy="566928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166360"/>
            <a:ext cx="6419088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6845B"/>
                </a:solidFill>
                <a:latin typeface="Arial"/>
              </a:rPr>
              <a:t>Explanations diagnose gaps in your understanding.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94192" y="1664208"/>
            <a:ext cx="309981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1993392"/>
            <a:ext cx="254203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SCOPE NOTE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8512" y="2514600"/>
            <a:ext cx="2487168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 dedicated C434 practice set is listed. Use the cybersecurity set only as supplementary practice.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8512" y="4992624"/>
            <a:ext cx="2487168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Detailed navigation stays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MECHANISM → CONTRACT → FAILURE →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Technical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Official course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Topic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AI-Assisted Security Risk, Threat and Control-Gap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Topic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Designing AI-Powered Cybersecurity Programmes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Topic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Developing AI-Driven Security Architecture and Action Plans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Topic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Monitoring, Evaluating and Governing AI Security Solutions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Each concept ends with a lab bridge and observable acceptance criteria.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5230368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2801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nomaly-detection-tele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616" y="1325880"/>
            <a:ext cx="5422392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1828800"/>
            <a:ext cx="4370832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1 · LO1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76856"/>
            <a:ext cx="437083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AI-Assisted Security Risk, Threat and Control-Gap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86200"/>
            <a:ext cx="4370832" cy="10241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Telemetry contracts · detection models · business impact · analyst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CSF 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 advClick="1">
    <p:push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telemetry is a governed evidence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Collect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Normalize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Enrich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Retain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Schema-first features survive tool changes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Security telemetry is a governed evidence pipeline: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event_time: UTC timestamp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principal.id: stable 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asset.criticality: 1-5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action/outcome: attempted result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Schema-first features survive tool changes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Late events need event-time windows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Asset context changes the same alert's risk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Raw evidence remains immutable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Security telemetry is a governed evidence pipeline: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Schema-first features survive tool changes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Late events need event-time 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Asset context changes the same alert's risk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Raw evidence remains immutable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Raw evidence remains immutable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Security telemetry is a governed evidence pipeline: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Clock skew creates false sequences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Missing identity joins hide lateral movement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PII copied into prompts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Silent parser failures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Parse success &gt;= 99%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Field null rates tracked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Lineage links score to raw event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Retention matches policy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Security telemetry is a governed evidence pipeline: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Parse success &gt;= 99%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Field null rates tracked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Lineage links score to raw event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Retention matches policy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1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Security telemetry is a governed evidence pipeline: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Collect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Normalize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Enrich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Retain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Security telemetry is a governed evidence pipeline: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event_time: UTC timestamp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principal.id: stable 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asset.criticality: 1-5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action/outcome: attempted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Schema-first features survive tool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Parse success &gt;= 99%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Late events need event-time windows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Field null rates tracked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Asset context changes the same alert's 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Lineage links score to raw event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Raw evidence remains immutable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Retention matches policy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Security telemetry is a governed evidence pipeline: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event_time: UTC timestamp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Schema-first features survive tool changes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Clock skew creates false sequences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Parse success &gt;= 99%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principal.id: stable identity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Late events need event-time windows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Missing identity joins hide lateral movement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Field null rates tracked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asset.criticality: 1-5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Asset context changes the same alert's risk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PII copied into prompts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Lineage links score to raw event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action/outcome: attempted result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Raw evidence remains immutable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Silent parser failures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Retention matches policy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Security telemetry is a governed evidence pipeline: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Clock skew creates false sequences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event_time: UTC timestamp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Parse success &gt;= 99%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Missing identity joins hide lateral movement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principal.id: stable identity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Field null rates tracked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PII copied into prompts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asset.criticality: 1-5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Lineage links score to raw event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Silent parser failures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action/outcome: attempted result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Retention matches policy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Security telemetry is a governed evidence pipeline: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Schema-first features survive tool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Clock skew creates false sequences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Parse success &gt;= 99%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Late events need event-time windows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Missing identity joins hide lateral movement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Field null rates tracked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Asset context changes the same alert's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PII copied into prompts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Lineage links score to raw event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Raw evidence remains immutable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Silent parser failures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Retention matches policy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Security telemetry is a governed evidence pipeline: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event_time: UTC timestamp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Clock skew creates false sequences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Schema-first features survive tool changes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Parse success &gt;= 99%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principal.id: stable identity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Missing identity joins hide lateral movement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Late events need event-time windows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Field null rates tracked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asset.criticality: 1-5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PII copied into prompts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Asset context changes the same alert's risk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Lineage links score to raw event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action/outcome: attempted result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Silent parser failures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Raw evidence remains immutable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Retention matches policy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Risk scoring joins threat likelihood to business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 · Tenable AI cybersecurity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Threat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Impact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CVSS measures severity, not organisational priority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Risk scoring joins threat likelihood to business impact: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 · Tenable AI cybersecurity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risk = likelihood x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likelihood = exploitability x exposure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residual = inherent x (1-control_effectiveness)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owner + due_date + evidence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CVSS measures severity, not organisational priority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EPSS estimates exploitation probability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Criticality weights business consequence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Confidence must travel with the score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EDITABLE POWERPOINT CHART · INDICATIVE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Risk scoring joins threat likelihood to business impact: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 · Tenable AI cybersecurity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691640"/>
          <a:ext cx="73609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394192" y="1691640"/>
            <a:ext cx="3099816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975104"/>
            <a:ext cx="2615184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505456"/>
            <a:ext cx="2542032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Technical severity and business-context priority diverge; remediation queues need both.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5102352"/>
            <a:ext cx="2514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Indicative figures - validate on local data.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Risk scoring joins threat likelihood to business impact: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 · Tenable AI cybersecurity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Single-number theatre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Unbounded AI-generated severity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risk owner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exception expiry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Top risks trace to assets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Sensitivity analysis recorded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Human approves priority band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Exceptions expire automatically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Risk scoring joins threat likelihood to business impact: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 · Tenable AI cybersecurity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Top risks trace to assets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Sensitivity analysis recorded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Human approves priority band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Exceptions expire automatically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1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Risk scoring joins threat likelihood to business impact: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 · Tenable AI cybersecurity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Threat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Exposure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Control gap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Risk scoring joins threat likelihood to business impact: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 · Tenable AI cybersecurity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risk = likelihood x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likelihood = exploitability x exposure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residual = inherent x (1-control_effectiveness)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owner + due_date +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CVSS measures severity, not organisational priority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Top risks trace to assets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EPSS estimates exploitation probability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Sensitivity analysis recorded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Criticality weights business consequence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Human approves priority band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Confidence must travel with the 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Exceptions expire automatically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Risk scoring joins threat likelihood to business impact: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 · Tenable AI cybersecurity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risk = likelihood x impact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CVSS measures severity, not organisational priority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Single-number theatre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Top risks trace to assets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likelihood = exploitability x exposure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EPSS estimates exploitation probability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Unbounded AI-generated severity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Sensitivity analysis recorded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residual = inherent x (1-control_effectiveness)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Criticality weights business consequence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No risk owner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Human approves priority band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owner + due_date + evidence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Confidence must travel with the score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No exception expiry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Exceptions expire automatically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Risk scoring joins threat likelihood to business impact: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 · Tenable AI cybersecurity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Single-number theatre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risk = likelihood x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Top risks trace to assets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Unbounded AI-generated severity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likelihood = exploitability x exposure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Sensitivity analysis recorded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No risk 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residual = inherent x (1-control_effectiveness)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Human approves priority band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No exception expiry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owner + due_date +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Exceptions expire automatically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Risk scoring joins threat likelihood to business impact: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 · Tenable AI cybersecurity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CVSS measures severity, not organisational priority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Single-number theatre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Top risks trace to assets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EPSS estimates exploitation probability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Unbounded AI-generated severity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Sensitivity analysis recorded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Criticality weights business consequence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No risk owner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Human approves priority band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Confidence must travel with the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No exception expiry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Exceptions expire automatically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Risk scoring joins threat likelihood to business impact: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 · Tenable AI cybersecurity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risk = likelihood x impact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Single-number theatre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CVSS measures severity, not organisational priority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Top risks trace to assets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likelihood = exploitability x exposure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Unbounded AI-generated severity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EPSS estimates exploitation probability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Sensitivity analysis recorded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residual = inherent x (1-control_effectiveness)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No risk owner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Criticality weights business consequence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Human approves priority band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owner + due_date + evidence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No exception expiry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Confidence must travel with the score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Exceptions expire automatically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Anomaly detection models normal behaviour, not malicious intent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5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Feature 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Distance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Threshold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Analyst 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Isolation Forest isolates sparse points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Anomaly detection models normal behaviour, not malicious intent: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5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window=15m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features=[failures,new_device,bytes_out]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score = model.decision_function(x)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alert if score &lt; threshold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Isolation Forest isolates sparse points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Z-score assumes a stable distribution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Seasonality needs peer/time baselines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Threshold controls workload and misses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EDITABLE POWERPOINT CHART · INDICATIVE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Anomaly detection models normal behaviour, not malicious intent: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5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691640"/>
          <a:ext cx="73609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394192" y="1691640"/>
            <a:ext cx="3099816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975104"/>
            <a:ext cx="2615184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505456"/>
            <a:ext cx="2542032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Lower thresholds catch more events but increase analyst workload; tune against a stated operating point.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5102352"/>
            <a:ext cx="2514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Indicative figures - validate on local data.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Anomaly detection models normal behaviour, not malicious intent: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5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Novel but benign deployment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Poisoned baseline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Feature drift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Rare user treated as hostile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Backtest on labelled window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Report precision and recall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Analyst disposition captured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Threshold reviewed monthly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Anomaly detection models normal behaviour, not malicious intent: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5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Backtest on labelled window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Report precision and recall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Analyst disposition captured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Threshold reviewed monthly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2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Anomaly detection models normal behaviour, not malicious intent: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5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Feature vector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Distance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Threshold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Analyst review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Anomaly detection models normal behaviour, not malicious intent: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5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window=15m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features=[failures,new_device,bytes_out]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score = model.decision_function(x)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alert if score &lt; threshold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Isolation Forest isolates sparse 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Backtest on labelled window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Z-score assumes a stable distribution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Report precision and recall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Seasonality needs peer/time baselines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Analyst disposition captured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Threshold controls workload and misses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Threshold reviewed monthly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Anomaly detection models normal behaviour, not malicious intent: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5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window=15m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Isolation Forest isolates sparse points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Novel but benign deployment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Backtest on labelled window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features=[failures,new_device,bytes_out]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Z-score assumes a stable distribution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Poisoned baseline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Report precision and recall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score = model.decision_function(x)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Seasonality needs peer/time baselines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Feature drift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Analyst disposition captured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alert if score &lt; threshold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Threshold controls workload and misses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Rare user treated as hostile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Threshold reviewed monthly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Anomaly detection models normal behaviour, not malicious intent: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5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Novel but benign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window=15m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Backtest on labelled window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Poisoned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features=[failures,new_device,bytes_out]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Report precision and recall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Feature drift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score = model.decision_function(x)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Analyst disposition captured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Rare user treated as hostile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alert if score &lt; threshold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Threshold reviewed monthly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Anomaly detection models normal behaviour, not malicious intent: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5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Isolation Forest isolates sparse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Novel but benign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Backtest on labelled window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Z-score assumes a stable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Poisoned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Report precision and recall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Seasonality needs peer/time baselines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Feature drift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Analyst disposition captured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Threshold controls workload and misses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Rare user treated as hostile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Threshold reviewed monthly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Anomaly detection models normal behaviour, not malicious intent: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5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window=15m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Novel but benign deployment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Isolation Forest isolates sparse points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Backtest on labelled window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features=[failures,new_device,bytes_out]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Poisoned baseline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Z-score assumes a stable distribution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Report precision and recall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score = model.decision_function(x)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Feature drift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Seasonality needs peer/time baselines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Analyst disposition captured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alert if score &lt; threshold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Rare user treated as hostile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Threshold controls workload and misses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Threshold reviewed monthly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IMAGEGEN VISUAL · EDITABLE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Anomaly score is a review trigger, not a verdict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OpenAI ImageGen illustration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1554480"/>
            <a:ext cx="7635240" cy="4572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nomaly-detection-tele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00200"/>
            <a:ext cx="7543800" cy="4480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394192" y="1600200"/>
            <a:ext cx="3099816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22792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22792" y="184708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7152" y="1828800"/>
            <a:ext cx="199339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7152" y="2121408"/>
            <a:ext cx="1993392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Normal behaviour is a measured window.</a:t>
            </a:r>
          </a:p>
        </p:txBody>
      </p:sp>
      <p:sp>
        <p:nvSpPr>
          <p:cNvPr id="17" name="Oval 16"/>
          <p:cNvSpPr/>
          <p:nvPr/>
        </p:nvSpPr>
        <p:spPr>
          <a:xfrm>
            <a:off x="8622792" y="283464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22792" y="28346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2816352"/>
            <a:ext cx="199339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Divergence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3108960"/>
            <a:ext cx="1993392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score marks distance, not intent.</a:t>
            </a:r>
          </a:p>
        </p:txBody>
      </p:sp>
      <p:sp>
        <p:nvSpPr>
          <p:cNvPr id="21" name="Oval 20"/>
          <p:cNvSpPr/>
          <p:nvPr/>
        </p:nvSpPr>
        <p:spPr>
          <a:xfrm>
            <a:off x="8622792" y="3822191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22792" y="3822191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3803904"/>
            <a:ext cx="199339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Threshold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4096511"/>
            <a:ext cx="1993392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Capacity and miss cost set the operating point.</a:t>
            </a:r>
          </a:p>
        </p:txBody>
      </p:sp>
      <p:sp>
        <p:nvSpPr>
          <p:cNvPr id="25" name="Oval 24"/>
          <p:cNvSpPr/>
          <p:nvPr/>
        </p:nvSpPr>
        <p:spPr>
          <a:xfrm>
            <a:off x="8622792" y="48097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22792" y="480974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2" y="4791456"/>
            <a:ext cx="199339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7152" y="5084064"/>
            <a:ext cx="1993392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analyst validates context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Phishing detection combines header, URL and language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Red Hat AI security use cases · OWASP GenAI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Parse 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Extract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Quarantine/review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Header authentication is stronger than tone alone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Phishing detection combines header, URL and language evidence: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Red Hat AI security use cases · OWASP GenAI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spf/dkim/dmarc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reply_to mismatch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url_domain_age_days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language urgency score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Header authentication is stronger than tone alone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URL structure adds campaign signal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Text models require multilingual evaluation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Explanations should cite observed fields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Phishing detection combines header, URL and language evidence: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Red Hat AI security use cases · OWASP GenAI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Header authentication is stronger than tone alone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URL structure adds campaign signal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Text models require multilingual evaluation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Explanations should cite observed fields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Explanations should cite observed fields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Phishing detection combines header, URL and language evidence: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Red Hat AI security use cases · OWASP GenAI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Attacker prompt text manipulates an LLM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Legitimate urgent mail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Image-only lure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Domain reputation delay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cites exact header/URL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auto-delete at low confidence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False positives sampled weekly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Protected sandbox for links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Phishing detection combines header, URL and language evidence: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Red Hat AI security use cases · OWASP GenAI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Evidence cites exact header/URL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auto-delete at low confidence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False positives sampled weekly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Protected sandbox for links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3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Phishing detection combines header, URL and language evidence: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Red Hat AI security use cases · OWASP GenAI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Parse 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Extract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Quarantine/review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Phishing detection combines header, URL and language evidence: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Red Hat AI security use cases · OWASP GenAI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spf/dkim/dmarc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reply_to mismatch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url_domain_age_days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language urgency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Header authentication is stronger than tone alone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Evidence cites exact header/URL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URL structure adds campaign signal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No auto-delete at low confidence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Text models require multilingual 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False positives sampled weekly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Explanations should cite observed fields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Protected sandbox for links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Phishing detection combines header, URL and language evidence: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Red Hat AI security use cases · OWASP GenAI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spf/dkim/dmarc result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Header authentication is stronger than tone alone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Attacker prompt text manipulates an LLM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Evidence cites exact header/URL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reply_to mismatch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URL structure adds campaign signal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Legitimate urgent mail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No auto-delete at low confidence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url_domain_age_days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Text models require multilingual evaluation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Image-only lure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False positives sampled weekly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language urgency score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Explanations should cite observed fields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Domain reputation delay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Protected sandbox for links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Phishing detection combines header, URL and language evidence: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Red Hat AI security use cases · OWASP GenAI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Attacker prompt text manipulates an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spf/dkim/dmarc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Evidence cites exact header/URL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Legitimate urgent 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reply_to mismatch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No auto-delete at low confidence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Image-only lure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url_domain_age_days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False positives sampled weekly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Domain reputation delay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language urgency score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Protected sandbox for links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Phishing detection combines header, URL and language evidence: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Red Hat AI security use cases · OWASP GenAI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Header authentication is stronger than tone alone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Attacker prompt text manipulates an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Evidence cites exact header/URL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URL structure adds campaign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Legitimate urgent 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No auto-delete at low confidence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Text models require multilingual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Image-only 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False positives sampled weekly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Explanations should cite observed fields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Domain reputation delay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Protected sandbox for links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Phishing detection combines header, URL and language evidence: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Red Hat AI security use cases · OWASP GenAI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spf/dkim/dmarc result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Attacker prompt text manipulates an LLM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Header authentication is stronger than tone alone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Evidence cites exact header/URL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reply_to mismatch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Legitimate urgent mail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URL structure adds campaign signal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No auto-delete at low confidence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url_domain_age_days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Image-only lure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Text models require multilingual evaluation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False positives sampled weekly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language urgency score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Domain reputation delay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Explanations should cite observed fields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Protected sandbox for links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Malware triage separates static signals from behavioural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6 · MITRE ATT&amp;CK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Hash/type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Static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Sandbox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Classifier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Disposition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Static ML scales pre-screening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Malware triage separates static signals from behavioural proof: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6 · MITRE ATT&amp;CK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sha256 + file_type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imports/entropy/sections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process/network/file behaviours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family confidence + evidence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Static ML scales pre-screening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Behaviour reveals packed samples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Family labels are noisy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Unknown stays unknown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Malware triage separates static signals from behavioural proof: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6 · MITRE ATT&amp;CK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Static ML scales pre-screening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Behaviour reveals packed samples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Family labels are noisy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Unknown stays unknown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Unknown stays unknown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Malware triage separates static signals from behavioural proof: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6 · MITRE ATT&amp;CK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Adversarial packing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Sandbox evasion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Training labels from one vendor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Executing samples outside isolation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live malware in training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Hash and provenance recorded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Confidence threshold documented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Analyst confirms containment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Malware triage separates static signals from behavioural proof: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6 · MITRE ATT&amp;CK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live malware in training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Hash and provenance recorded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Confidence threshold documented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Analyst confirms containment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4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Malware triage separates static signals from behavioural proof: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6 · MITRE ATT&amp;CK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Hash/type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Static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Sandbox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Classifier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Disposition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Malware triage separates static signals from behavioural proof: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6 · MITRE ATT&amp;CK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sha256 + file_type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imports/entropy/sections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process/network/file behaviours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family confidence +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Static ML scales pre-screening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No live malware in training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Behaviour reveals packed samples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Hash and provenance recorded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Family labels are noisy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Confidence threshold documented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Unknown stays unknown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Analyst confirms containment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Malware triage separates static signals from behavioural proof: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6 · MITRE ATT&amp;CK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sha256 + file_type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Static ML scales pre-screening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Adversarial packing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No live malware in training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imports/entropy/sections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Behaviour reveals packed samples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Sandbox evasion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Hash and provenance recorded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process/network/file behaviours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Family labels are noisy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Training labels from one vendor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Confidence threshold documented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family confidence + evidence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Unknown stays unknown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Executing samples outside isolation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Analyst confirms containment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Malware triage separates static signals from behavioural proof: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6 · MITRE ATT&amp;CK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Adversarial packing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sha256 + file_type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No live malware in training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Sandbox evasion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imports/entropy/sections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Hash and provenance recorded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Training labels from one vendor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process/network/file behaviours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Confidence threshold documented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Executing samples outside isolation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family confidence +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Analyst confirms containment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Malware triage separates static signals from behavioural proof: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6 · MITRE ATT&amp;CK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Static ML scales pre-screening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Adversarial packing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No live malware in training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Behaviour reveals packed samples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Sandbox evasion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Hash and provenance recorded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Family labels are noisy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Training labels from one vendor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Confidence threshold documented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Unknown stays unknown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Executing samples outside isolation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Analyst confirms containment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Malware triage separates static signals from behavioural proof: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6 · MITRE ATT&amp;CK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sha256 + file_type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Adversarial packing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Static ML scales pre-screening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No live malware in training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imports/entropy/sections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Sandbox evasion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Behaviour reveals packed samples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Hash and provenance recorded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process/network/file behaviours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Training labels from one vendor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Family labels are noisy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Confidence threshold documented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family confidence + evidence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Executing samples outside isolation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Unknown stays unknown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Analyst confirms containment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Vulnerability prioritisation is a multi-signal ranking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Tenable AI cybersecurity guide · 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Inventory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Severity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Exploit likelihood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Exposure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Business context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Known exploitation outranks theoretical severity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Vulnerability prioritisation is a multi-signal ranking problem: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Tenable AI cybersecurity guide · 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asset_id + 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CVSS base/vector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EPSS probability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internet_exposed + compensating_control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Known exploitation outranks theoretical severity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Exposure time affects urgency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Compensating controls lower residual risk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AI summarises evidence; policy sets SLA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Vulnerability prioritisation is a multi-signal ranking problem: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Tenable AI cybersecurity guide · 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Known exploitation outranks theoretical severity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Exposure time affects urgency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Compensating controls lower residual risk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AI summarises evidence; policy sets SLA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AI summarises evidence; policy sets SLA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Vulnerability prioritisation is a multi-signal ranking problem: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Tenable AI cybersecurity guide · 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Hallucinated CVE details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Stale inventory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Dependency not reachable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SLA ignores business owner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Source URL and retrieval date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Reachability evidence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Priority rationale stored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SLA breach dashboard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Vulnerability prioritisation is a multi-signal ranking problem: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Tenable AI cybersecurity guide · 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Source URL and retrieval 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Reachability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Priority rationale stored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SLA breach 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5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Vulnerability prioritisation is a multi-signal ranking problem: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Tenable AI cybersecurity guide · 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Severity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Exploit likelihood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Exposure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Business context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Vulnerability prioritisation is a multi-signal ranking problem: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Tenable AI cybersecurity guide · 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asset_id + 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CVSS base/vector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EPSS probability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internet_exposed + compensating_control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Known exploitation outranks theoretical severity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Source URL and retrieval date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Exposure time affects urgency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Reachability evidence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Compensating controls lower residual 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Priority rationale stored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AI summarises evidence; policy sets SLA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SLA breach dashboard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Vulnerability prioritisation is a multi-signal ranking problem: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Tenable AI cybersecurity guide · 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asset_id + owner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Known exploitation outranks theoretical severity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Hallucinated CVE details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 URL and retrieval date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CVSS base/vector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Exposure time affects urgency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Stale inventory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Reachability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EPSS probability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Compensating controls lower residual risk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Dependency not reachable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Priority rationale stored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internet_exposed + compensating_control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AI summarises evidence; policy sets SLA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SLA ignores business owner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SLA breach dashboard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Vulnerability prioritisation is a multi-signal ranking problem: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Tenable AI cybersecurity guide · 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Hallucinated CVE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asset_id + owner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Source URL and retrieval 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Stale inventory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CVSS base/vector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Reachability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Dependency not reachable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EPSS probability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Priority rationale stored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SLA ignores business owner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internet_exposed + compensating_control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SLA breach dashboard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Vulnerability prioritisation is a multi-signal ranking problem: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Tenable AI cybersecurity guide · 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Known exploitation outranks theoretical severity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Hallucinated CVE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Source URL and retrieval 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Exposure time affects urgency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Stale inventory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Reachability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Compensating controls lower residual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Dependency not reachable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Priority rationale stored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AI summarises evidence; policy sets SLA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SLA ignores business 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SLA breach dashboard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Vulnerability prioritisation is a multi-signal ranking problem: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Tenable AI cybersecurity guide · 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asset_id + owner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Hallucinated CVE details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Known exploitation outranks theoretical severity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Source URL and retrieval date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CVSS base/vector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Stale inventory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Exposure time affects urgency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Reachability evidence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EPSS probability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Dependency not reachable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Compensating controls lower residual risk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Priority rationale stored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internet_exposed + compensating_control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SLA ignores business owner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AI summarises evidence; policy sets SLA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SLA breach dashboard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UEBA needs peer groups, identity joins and privacy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7 · NIST Privacy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Identity 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Peer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Session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Risk aggregation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Investigation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Peer grouping reduces role-driven noise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UEBA needs peer groups, identity joins and privacy controls: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7 · NIST Privacy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principal.id +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device.id + managed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geo_velocity_kmh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privilege_change + data_access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Peer grouping reduces role-driven noise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Risk accumulates across weak signals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Identity resolution precedes analytics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Privacy purpose limits remain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UEBA needs peer groups, identity joins and privacy controls: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7 · NIST Privacy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Peer grouping reduces role-driven noise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Risk accumulates across weak signals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Identity resolution precedes analytics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Privacy purpose limits remain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Privacy purpose limits remain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UEBA needs peer groups, identity joins and privacy controls: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7 · NIST Privacy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Shared accounts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Role change not reflected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Bias against remote workers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Excessive employee surveillance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Purpose documented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Access restricted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Appeal/correction route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Alert evidence reproducible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UEBA needs peer groups, identity joins and privacy controls: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7 · NIST Privacy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Purpose documented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Access restricted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Appeal/correction route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Alert evidence reproducible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2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UEBA needs peer groups, identity joins and privacy controls: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7 · NIST Privacy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Identity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Peer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Session features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Risk aggregation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Investigation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UEBA needs peer groups, identity joins and privacy controls: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7 · NIST Privacy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principal.id +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device.id + managed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geo_velocity_kmh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privilege_change + data_access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Peer grouping reduces role-driven noise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Purpose documented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Risk accumulates across weak signals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Access restricted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Identity resolution precedes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Appeal/correction route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Privacy purpose limits remain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Alert evidence reproducible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UEBA needs peer groups, identity joins and privacy controls: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7 · NIST Privacy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principal.id + role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Peer grouping reduces role-driven noise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Shared accounts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Purpose documented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device.id + managed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Risk accumulates across weak signals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Role change not reflected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Access restricted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geo_velocity_kmh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Identity resolution precedes analytics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Bias against remote workers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Appeal/correction route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privilege_change + data_access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Privacy purpose limits remain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Excessive employee surveillance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Alert evidence reproducible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UEBA needs peer groups, identity joins and privacy controls: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7 · NIST Privacy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Shared accounts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principal.id +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Purpose documented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Role change not reflected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device.id + managed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Access restricted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Bias against remote workers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geo_velocity_kmh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Appeal/correction route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Excessive employee surveillance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privilege_change + data_access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Alert evidence reproducible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UEBA needs peer groups, identity joins and privacy controls: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7 · NIST Privacy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Peer grouping reduces role-driven noise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Shared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Purpose documented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Risk accumulates across weak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Role change not reflected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Access restricted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Identity resolution precedes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Bias against remote workers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Appeal/correction route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Privacy purpose limits remain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Excessive employee surveillance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Alert evidence reproducible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UEBA needs peer groups, identity joins and privacy controls: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AI-Driven Cybersecurity ch. 7 · NIST Privacy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principal.id + role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Shared accounts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Peer grouping reduces role-driven noise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Purpose documented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device.id + managed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Role change not reflected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Risk accumulates across weak signals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Access restricted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geo_velocity_kmh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Bias against remote workers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Identity resolution precedes analytics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Appeal/correction route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privilege_change + data_access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Excessive employee surveillance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Privacy purpose limits remain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Alert evidence reproducible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Threat-intelligence extraction produces structured, confidence-scored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 for Cybersecurity ch. 5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Normalise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Correlate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Operationalise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NLP accelerates entity extraction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Threat-intelligence extraction produces structured, confidence-scored objects: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 for Cybersecurity ch. 5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indicator.type/value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valid_from/valid_until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confidence 0-100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source + relationship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NLP accelerates entity extraction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STIX-like structure enables joins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Confidence depends on source and corroboration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Expiry prevents permanent blocks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Threat-intelligence extraction produces structured, confidence-scored objects: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 for Cybersecurity ch. 5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NLP accelerates entity extraction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STIX-like structure enables joins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Confidence depends on source and corroboration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Expiry prevents permanent blocks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Expiry prevents permanent blocks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Threat-intelligence extraction produces structured, confidence-scored objects: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 for Cybersecurity ch. 5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Defanged indicators parsed wrongly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Duplicate aliases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Untrusted report instructions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IOC without context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Schema validation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Provenance retained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Human approves blocking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Expired indicators removed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Threat-intelligence extraction produces structured, confidence-scored objects: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 for Cybersecurity ch. 5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Schema validation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Provenance retained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Human approves blocking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Expired indicators removed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6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Threat-intelligence extraction produces structured, confidence-scored objects: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 for Cybersecurity ch. 5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Normalise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Correlate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Operationalise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Threat-intelligence extraction produces structured, confidence-scored objects: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 for Cybersecurity ch. 5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indicator.type/value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valid_from/valid_until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confidence 0-100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source + relationship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NLP accelerates entity extraction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Schema validation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STIX-like structure enables joins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Provenance retained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Confidence depends on source and corroboration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Human approves blocking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Expiry prevents permanent blocks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Expired indicators removed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Threat-intelligence extraction produces structured, confidence-scored objects: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 for Cybersecurity ch. 5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indicator.type/value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NLP accelerates entity extraction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Defanged indicators parsed wrongly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Schema validation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valid_from/valid_until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STIX-like structure enables joins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Duplicate aliases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Provenance retained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confidence 0-100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Confidence depends on source and corroboration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Untrusted report instructions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Human approves blocking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 + relationship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Expiry prevents permanent blocks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IOC without context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Expired indicators removed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Threat-intelligence extraction produces structured, confidence-scored objects: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 for Cybersecurity ch. 5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Defanged indicators parsed wrongly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indicator.type/value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Schema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Duplicate aliases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valid_from/valid_until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Provenance retained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Untrusted report instructions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confidence 0-100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Human approves blocking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IOC without context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source + relationship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Expired indicators removed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Threat-intelligence extraction produces structured, confidence-scored objects: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 for Cybersecurity ch. 5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NLP accelerates entity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Defanged indicators parsed wrongly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Schema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STIX-like structure enables joins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Duplicate aliases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Provenance retained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Confidence depends on source and corroboration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Untrusted report instructions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Human approves blocking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Expiry prevents permanent blocks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IOC without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Expired indicators removed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Threat-intelligence extraction produces structured, confidence-scored objects: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 for Cybersecurity ch. 5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indicator.type/value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Defanged indicators parsed wrongly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NLP accelerates entity extraction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Schema validation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valid_from/valid_until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Duplicate aliases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STIX-like structure enables joins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Provenance retained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confidence 0-100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Untrusted report instructions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Confidence depends on source and corroboration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Human approves blocking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source + relationship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IOC without context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Expiry prevents permanent blocks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Expired indicators removed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HANDS-ON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1: Build an AI-Assisted Cyber Risk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Aligned to LO1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56231"/>
            <a:ext cx="1019556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Join asset criticality, threat likelihood, control effectiveness and evidence into a transparent residual-risk ranking.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871216"/>
            <a:ext cx="248716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" y="315468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Inspect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2871216"/>
            <a:ext cx="2487168" cy="8229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3154680"/>
            <a:ext cx="475488" cy="47548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Build mechanism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2871216"/>
            <a:ext cx="2487168" cy="8229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45936" y="3154680"/>
            <a:ext cx="475488" cy="47548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 boundary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2871216"/>
            <a:ext cx="2487168" cy="8229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89136" y="3154680"/>
            <a:ext cx="475488" cy="47548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Explain result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1248" y="4791456"/>
            <a:ext cx="1143000" cy="5029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791456"/>
            <a:ext cx="11430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4773168"/>
            <a:ext cx="9006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risk_register.csv and risk_summary.json with traceable scoring rationale.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5148072"/>
            <a:ext cx="9006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Python 3 · CSV · JSON · Cybersecurity Threat Simulation Lab · steps in Learner Guide and individual lab folder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ACCEPTANCE CRITERIA · FAILURE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verification: prove the control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Aligned to LO1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755648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70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1828800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All rows have owner and evidence_ref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2688336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0704" y="283464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28346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2" y="2761488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Residual scores are 0-25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3621024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0704" y="37673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376732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3694176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Ranking changes when asset criticality changes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4553712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700016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70001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4626864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Output JSON records the scoring formula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" y="5559552"/>
            <a:ext cx="10442448" cy="5029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5660136"/>
            <a:ext cx="99669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6845B"/>
                </a:solidFill>
                <a:latin typeface="Arial"/>
              </a:rPr>
              <a:t>Capture configuration, output, evidence reference and analyst decision - not screenshots alone.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HANDS-ON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2: Detect Authentication Anomalies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Aligned to LO1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56231"/>
            <a:ext cx="1019556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Create a peer-aware anomaly score from failed logins, new-device state and impossible-travel indicators.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871216"/>
            <a:ext cx="248716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" y="315468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Inspect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2871216"/>
            <a:ext cx="2487168" cy="8229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3154680"/>
            <a:ext cx="475488" cy="47548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Build mechanism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2871216"/>
            <a:ext cx="2487168" cy="8229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45936" y="3154680"/>
            <a:ext cx="475488" cy="47548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 boundary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2871216"/>
            <a:ext cx="2487168" cy="8229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89136" y="3154680"/>
            <a:ext cx="475488" cy="47548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Explain result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1248" y="4791456"/>
            <a:ext cx="1143000" cy="5029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791456"/>
            <a:ext cx="11430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4773168"/>
            <a:ext cx="9006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anomalies.csv and threshold-decision.md.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5148072"/>
            <a:ext cx="9006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Python 3 · pandas · scikit-learn · FauxBank Cybersecurity Training Simulation · steps in Learner Guide and individual lab folder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ACCEPTANCE CRITERIA · FAILURE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verification: prove the control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Aligned to LO1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755648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70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1828800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Model trained only on baseline rows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2688336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0704" y="283464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28346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2" y="2761488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Output includes anomaly_score and reason fields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3621024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0704" y="37673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376732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3694176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Queue has at most three alerts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4553712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700016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70001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4626864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Threshold and model random_state are recorded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" y="5559552"/>
            <a:ext cx="10442448" cy="5029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5660136"/>
            <a:ext cx="99669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6845B"/>
                </a:solidFill>
                <a:latin typeface="Arial"/>
              </a:rPr>
              <a:t>Capture configuration, output, evidence reference and analyst decision - not screenshots alone.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HANDS-ON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3: Explain a Phishing Risk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Aligned to LO1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56231"/>
            <a:ext cx="1019556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Combine email authentication, reply-to mismatch, URL and language features into an explainable phishing triage score.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871216"/>
            <a:ext cx="248716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" y="315468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Inspect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2871216"/>
            <a:ext cx="2487168" cy="8229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3154680"/>
            <a:ext cx="475488" cy="47548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Build mechanism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2871216"/>
            <a:ext cx="2487168" cy="8229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45936" y="3154680"/>
            <a:ext cx="475488" cy="47548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 boundary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2871216"/>
            <a:ext cx="2487168" cy="8229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89136" y="3154680"/>
            <a:ext cx="475488" cy="47548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Explain result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1248" y="4791456"/>
            <a:ext cx="1143000" cy="5029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791456"/>
            <a:ext cx="11430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4773168"/>
            <a:ext cx="9006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phishing_triage.csv with evidence-based reason codes.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5148072"/>
            <a:ext cx="9006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Python 3 · pandas · Cybersecurity Threat Simulation Lab · steps in Learner Guide and individual lab folder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ACCEPTANCE CRITERIA · FAILURE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verification: prove the control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Aligned to LO1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755648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70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1828800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No raw email body leaves the lab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2688336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0704" y="283464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28346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2" y="2761488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Every score has at least one reason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3621024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0704" y="37673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376732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3694176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Low-confidence mail is review-only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4553712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700016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70001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4626864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Thresholds are documented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" y="5559552"/>
            <a:ext cx="10442448" cy="5029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5660136"/>
            <a:ext cx="99669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6845B"/>
                </a:solidFill>
                <a:latin typeface="Arial"/>
              </a:rPr>
              <a:t>Capture configuration, output, evidence reference and analyst decision - not screenshots alone.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HANDS-ON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4: Prioritise Vulnerabilities with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Aligned to LO1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56231"/>
            <a:ext cx="1019556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Rank vulnerabilities using severity, exploit likelihood, exposure, asset criticality and compensating controls.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871216"/>
            <a:ext cx="248716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" y="315468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Inspect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2871216"/>
            <a:ext cx="2487168" cy="8229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3154680"/>
            <a:ext cx="475488" cy="47548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Build mechanism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2871216"/>
            <a:ext cx="2487168" cy="8229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45936" y="3154680"/>
            <a:ext cx="475488" cy="47548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 boundary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2871216"/>
            <a:ext cx="2487168" cy="8229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89136" y="3154680"/>
            <a:ext cx="475488" cy="47548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Explain result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1248" y="4791456"/>
            <a:ext cx="1143000" cy="5029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791456"/>
            <a:ext cx="11430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4773168"/>
            <a:ext cx="9006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prioritised_vulnerabilities.csv and sla-rationale.md.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5148072"/>
            <a:ext cx="9006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Python 3 · pandas · Hacklab: Ethical Hacking Lab Simulator · steps in Learner Guide and individual lab folder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ACCEPTANCE CRITERIA · FAILURE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verification: prove the control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Aligned to LO1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755648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70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1828800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CVSS and EPSS remain separate fields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2688336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0704" y="283464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28346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2" y="2761488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Internet exposure changes priority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3621024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0704" y="37673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376732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3694176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Every row keeps source and retrieval_date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4553712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700016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70001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4626864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SLA is policy-derived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" y="5559552"/>
            <a:ext cx="10442448" cy="5029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5660136"/>
            <a:ext cx="99669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6845B"/>
                </a:solidFill>
                <a:latin typeface="Arial"/>
              </a:rPr>
              <a:t>Capture configuration, output, evidence reference and analyst decision - not screenshots alone.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5230368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28016" cy="4343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i-cyber-soc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616" y="1325880"/>
            <a:ext cx="5422392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1828800"/>
            <a:ext cx="4370832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D3FD2"/>
                </a:solidFill>
                <a:latin typeface="Arial"/>
              </a:rPr>
              <a:t>TOPIC 2 · LO2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76856"/>
            <a:ext cx="437083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Designing AI-Powered Cybersecurity Programmes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86200"/>
            <a:ext cx="4370832" cy="10241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Objectives · use-case selection · governance · human oversight · operating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1.0 · CISA Secure by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 advClick="1">
    <p:push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Programme design starts with an outcome, not an AI 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AI RMF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Security 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Metric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Use cases compete on value, feasibility and risk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Programme design starts with an outcome, not an AI product: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AI RMF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decision owner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baseline +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automation ceiling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Use cases compete on value, feasibility and risk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Baseline defines improvement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Decision rights prevent shadow automation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Kill criteria stop sunk-cost escalation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EDITABLE POWERPOINT CHART · INDICATIVE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Programme design starts with an outcome, not an AI product: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AI RMF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113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691640"/>
          <a:ext cx="73609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394192" y="1691640"/>
            <a:ext cx="3099816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975104"/>
            <a:ext cx="2615184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505456"/>
            <a:ext cx="2542032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 high-value idea can still rank second when data, integration, and operating risk are included.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5102352"/>
            <a:ext cx="2514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Indicative figures - validate on local data.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Programme design starts with an outcome, not an AI product: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AI RMF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Technology-first purchase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measurable baseline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Unowned alerts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Pilot becomes production silently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Named owner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Baseline frozen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Success/stop thresholds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Review date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Programme design starts with an outcome, not an AI product: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AI RMF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Named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Baseline frozen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Success/stop thresholds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 date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7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Programme design starts with an outcome, not an AI product: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AI RMF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Security 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Metric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Programme design starts with an outcome, not an AI product: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AI RMF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decision owner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baseline +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automation ceiling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Use cases compete on value, feasibility and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Named owner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Baseline defines improvement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Baseline frozen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Decision rights prevent shadow automation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Success/stop thresholds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Kill criteria stop sunk-cost escalation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Review date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Programme design starts with an outcome, not an AI product: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AI RMF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problem statement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Use cases compete on value, feasibility and risk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Technology-first purchase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Named owner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decision owner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Baseline defines improvement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No measurable baseline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Baseline frozen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baseline + target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Decision rights prevent shadow automation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Unowned alerts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Success/stop thresholds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automation ceiling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Kill criteria stop sunk-cost escalation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Pilot becomes production silently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Review date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Programme design starts with an outcome, not an AI product: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AI RMF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Technology-first purchase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problem 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Named owner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No measurable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decision owner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Baseline frozen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Unowned alerts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baseline + target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Success/stop thresholds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Pilot becomes production silently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automation ceiling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Review date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Programme design starts with an outcome, not an AI product: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AI RMF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Use cases compete on value, feasibility and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Technology-first purchase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Named owner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Baseline defines improvement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No measurable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Baseline frozen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Decision rights prevent shadow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Unowned 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Success/stop thresholds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Kill criteria stop sunk-cost escalation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Pilot becomes production silently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Review date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Programme design starts with an outcome, not an AI product: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AI RMF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problem statement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Technology-first purchase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Use cases compete on value, feasibility and risk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Named owner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decision owner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No measurable baseline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Baseline defines improvement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Baseline frozen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baseline + target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Unowned alerts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Decision rights prevent shadow automation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Success/stop thresholds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automation ceiling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Pilot becomes production silently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Kill criteria stop sunk-cost escalation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Review date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Control gaps translate into programme epics and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Current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Gap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Security objective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Programme epic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gap is an evidence-backed delta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Control gaps translate into programme epics and guardrails: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control_id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current_state/evidence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target_state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owner/milestone/dependency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 gap is an evidence-backed delta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Objectives state the desired security outcome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Epics group related controls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Acceptance criteria remain testable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Control gaps translate into programme epics and guardrails: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gap is an evidence-backed delta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Objectives state the desired security outcome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Epics group related controls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Acceptance criteria remain testable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criteria remain testable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Control gaps translate into programme epics and guardrails: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Vague 'improve security' objective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invents missing evidence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Control owner excluded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dependency 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Gap references audit/log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Target has date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Owner accepts scope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Test plan exists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Control gaps translate into programme epics and guardrails: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Gap references audit/log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Target has date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Owner accepts scope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Test plan exists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7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Control gaps translate into programme epics and guardrails: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Current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Gap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Security objective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Programme epic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Control gaps translate into programme epics and guardrails: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control_id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current_state/evidence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target_state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owner/milestone/dependency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A gap is an evidence-backed delta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Gap references audit/log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Objectives state the desired security outcome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Target has date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Epics group related controls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Owner accepts scope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Acceptance criteria remain testable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Test plan exists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Control gaps translate into programme epics and guardrails: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control_id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 gap is an evidence-backed delta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Vague 'improve security' objective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Gap references audit/log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current_state/evidence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Objectives state the desired security outcome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AI invents missing evidence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Target has date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target_state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Epics group related controls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Control owner excluded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Owner accepts scope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owner/milestone/dependency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Acceptance criteria remain testable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No dependency map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Test plan exists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Control gaps translate into programme epics and guardrails: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Vague 'improve security' 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control_id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Gap references audit/log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AI invents missing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current_state/evidence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Target has date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Control owner excluded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target_state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Owner accepts scope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No dependency 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owner/milestone/dependency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Test plan exists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Control gaps translate into programme epics and guardrails: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A gap is an evidence-backed delta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Vague 'improve security'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Gap references audit/log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Objectives state the desired security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AI invents missing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Target has 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Epics group related controls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Control owner excluded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Owner accepts scope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Acceptance criteria remain testable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No dependency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Test plan exists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Control gaps translate into programme epics and guardrails: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control_id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Vague 'improve security' objective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 gap is an evidence-backed delta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Gap references audit/log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current_state/evidence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AI invents missing evidence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Objectives state the desired security outcome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Target has date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target_state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Control owner excluded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Epics group related controls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Owner accepts scope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owner/milestone/dependency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No dependency map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Acceptance criteria remain testable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Test plan exists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Data governance is part of the security control plane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AI RMF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Minimise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Authorise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Protect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Delete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Sensitive telemetry can identify people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Data governance is part of the security control plane: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AI RMF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data 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allowed 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retention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region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248656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248656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model/provider use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Sensitive telemetry can identify people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Prompts are data transfers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Training use must be explicit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Deletion must cover caches and indexes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Data governance is part of the security control plane: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AI RMF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Sensitive telemetry can identify people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Prompts are data transfers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Training use must be explicit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Deletion must cover caches and indexes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Deletion must cover caches and indexes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Data governance is part of the security control plane: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AI RMF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Secrets in prompts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Unbounded retention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Cross-border transfer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Vendor trains on customer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DLP test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Access log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Deletion evidence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Vendor contract control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Data governance is part of the security control plane: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AI RMF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DLP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Access 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Deletion evidence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Vendor contract control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8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Data governance is part of the security control plane: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AI RMF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Minimise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Authorise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Protect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Delete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Data governance is part of the security control plane: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AI RMF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data 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allowed 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retention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region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Sensitive telemetry can identify people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DLP test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Prompts are data transfers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Access log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Training use must be explicit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Deletion evidence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Deletion must cover caches and indexes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Vendor contract control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Data governance is part of the security control plane: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AI RMF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data class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Sensitive telemetry can identify people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Secrets in prompts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DLP 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allowed purpose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Prompts are data transfers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Unbounded retention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Access log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retention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Training use must be explicit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Cross-border transfer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Deletion 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region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Deletion must cover caches and indexes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Vendor trains on customer data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Vendor contract control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Data governance is part of the security control plane: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AI RMF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Secrets in prompts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data 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DLP 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Unbounded retention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allowed purpose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Access log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Cross-border transfer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retention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Deletion evidence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Vendor trains on customer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region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Vendor contract control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Data governance is part of the security control plane: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AI RMF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Sensitive telemetry can identify people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Secrets in prompts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DLP 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Prompts are data transfers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Unbounded 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Access log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Training use must be explicit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Cross-border transfer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Deletion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Deletion must cover caches and indexes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Vendor trains on customer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Vendor contract control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Data governance is part of the security control plane: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AI RMF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data class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Secrets in prompts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Sensitive telemetry can identify people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DLP test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allowed purpose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Unbounded retention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Prompts are data transfers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Access log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retention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Cross-border transfer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Training use must be explicit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Deletion evidence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region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Vendor trains on customer data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Deletion must cover caches and indexes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Vendor contract control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levels define where humans must decide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OWASP Agentic AI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Recommend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Execute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Reverse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Low-impact enrichment can be automatic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Automation levels define where humans must decide: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OWASP Agentic AI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confidence 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action allow-list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approval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rollback command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Low-impact enrichment can be automatic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Containment needs bounded targets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High-impact identity actions need approval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Reversibility lowers operational risk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Automation levels define where humans must decide: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OWASP Agentic AI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Low-impact enrichment can be automatic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Containment needs bounded targets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High-impact identity actions need approval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Reversibility lowers operational risk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Reversibility lowers operational risk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Automation levels define where humans must decide: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OWASP Agentic AI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Model blocks a critical account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Approval fatigue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rollback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Action scope expands via tool permissions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Dry-run default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Two-person approval for destructive action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Full audit trail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Quarterly access review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Automation levels define where humans must decide: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OWASP Agentic AI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Dry-run default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Two-person approval for destructive action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audit trail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Quarterly access review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9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Automation levels define where humans must decide: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OWASP Agentic AI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Recommend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Approve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Execute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Reverse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Automation levels define where humans must decide: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OWASP Agentic AI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confidence 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action allow-list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approval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rollback command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Low-impact enrichment can be automatic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Dry-run default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Containment needs bounded targets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Two-person approval for destructive action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High-impact identity actions need approval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Full audit trail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Reversibility lowers operational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Quarterly access review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Automation levels define where humans must decide: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OWASP Agentic AI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confidence threshold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Low-impact enrichment can be automatic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Model blocks a critical account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Dry-run default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action allow-list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Containment needs bounded targets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Approval fatigue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Two-person approval for destructive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approval role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High-impact identity actions need approval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No rollback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Full audit trail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rollback command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Reversibility lowers operational risk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Action scope expands via tool permissions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Quarterly access review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Automation levels define where humans must decide: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OWASP Agentic AI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Model blocks a critical 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confidence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Dry-run default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Approval fatigue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action allow-list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Two-person approval for destructive 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No rollback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approval role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Full audit trail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Action scope expands via tool permissions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rollback command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Quarterly access review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Automation levels define where humans must decide: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OWASP Agentic AI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Low-impact enrichment can be automatic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Model blocks a critical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Dry-run default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Containment needs bounded targets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Approval fatigue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Two-person approval for destructive 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High-impact identity actions need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No rollback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Full audit trail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Reversibility lowers operational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Action scope expands via tool permissions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Quarterly access review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Automation levels define where humans must decide: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OWASP Agentic AI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confidence threshold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Model blocks a critical account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Low-impact enrichment can be automatic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Dry-run default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action allow-list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Approval fatigue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Containment needs bounded targets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Two-person approval for destructive action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approval role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No rollback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High-impact identity actions need approval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Full audit trail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rollback command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Action scope expands via tool permissions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Reversibility lowers operational risk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Quarterly access review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IMAGEGEN VISUAL · EDITABLE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Human approval gates high-impact AI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OpenAI ImageGen illustration · NIST AI RMF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1554480"/>
            <a:ext cx="7635240" cy="4572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governance-human-over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00200"/>
            <a:ext cx="7543800" cy="4480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394192" y="1600200"/>
            <a:ext cx="3099816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22792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22792" y="184708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7152" y="1828800"/>
            <a:ext cx="199339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7152" y="2121408"/>
            <a:ext cx="1993392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Classified, minimised evidence.</a:t>
            </a:r>
          </a:p>
        </p:txBody>
      </p:sp>
      <p:sp>
        <p:nvSpPr>
          <p:cNvPr id="17" name="Oval 16"/>
          <p:cNvSpPr/>
          <p:nvPr/>
        </p:nvSpPr>
        <p:spPr>
          <a:xfrm>
            <a:off x="8622792" y="283464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22792" y="28346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2816352"/>
            <a:ext cx="199339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3108960"/>
            <a:ext cx="1993392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Versioned score and reasons.</a:t>
            </a:r>
          </a:p>
        </p:txBody>
      </p:sp>
      <p:sp>
        <p:nvSpPr>
          <p:cNvPr id="21" name="Oval 20"/>
          <p:cNvSpPr/>
          <p:nvPr/>
        </p:nvSpPr>
        <p:spPr>
          <a:xfrm>
            <a:off x="8622792" y="3822191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22792" y="3822191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3803904"/>
            <a:ext cx="199339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4096511"/>
            <a:ext cx="1993392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Named role reviews scope and impact.</a:t>
            </a:r>
          </a:p>
        </p:txBody>
      </p:sp>
      <p:sp>
        <p:nvSpPr>
          <p:cNvPr id="25" name="Oval 24"/>
          <p:cNvSpPr/>
          <p:nvPr/>
        </p:nvSpPr>
        <p:spPr>
          <a:xfrm>
            <a:off x="8622792" y="48097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22792" y="480974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2" y="4791456"/>
            <a:ext cx="199339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7152" y="5084064"/>
            <a:ext cx="1993392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Bounded execution with rollback.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Threat modelling covers both AI use and the AI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MITRE ATLAS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Trust boundaries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Abuse cases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can strengthen defence and create attack paths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Threat modelling covers both AI use and the AI system: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MITRE ATLAS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model/data/tool identities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prompt/retrieval/tool boundaries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STRIDE + ATLAS techniques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security test case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AI can strengthen defence and create attack paths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Tool permissions are a primary boundary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Indirect prompt injection travels through content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Model supply chain needs provenance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Threat modelling covers both AI use and the AI system: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MITRE ATLAS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AI can strengthen defence and create attack paths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Tool permissions are a primary boundary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Indirect prompt injection travels through content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Model supply chain needs provenance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Model supply chain needs provenance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Threat modelling covers both AI use and the AI system: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MITRE ATLAS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Prompt injection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Training-data poisoning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Model theft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Unsafe tool invocation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Abuse case mapped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Control owner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Test evidence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Residual risk accepted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Threat modelling covers both AI use and the AI system: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MITRE ATLAS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Abuse case mapped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Control owner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Test evidence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Residual risk accepted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8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Threat modelling covers both AI use and the AI system: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MITRE ATLAS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Trust boundaries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Abuse cases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Controls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Tests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Threat modelling covers both AI use and the AI system: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MITRE ATLAS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model/data/tool identities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prompt/retrieval/tool boundaries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STRIDE + ATLAS techniques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security test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AI can strengthen defence and create attack paths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Abuse case mapped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Tool permissions are a primary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Control owner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Indirect prompt injection travels through content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Test evidence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Model supply chain needs provenance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Residual risk accepted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Threat modelling covers both AI use and the AI system: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MITRE ATLAS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model/data/tool identities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AI can strengthen defence and create attack paths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Prompt injection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Abuse case mapped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prompt/retrieval/tool boundaries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Tool permissions are a primary boundary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Training-data poisoning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Control owner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STRIDE + ATLAS techniques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Indirect prompt injection travels through content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Model theft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Test 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security test case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Model supply chain needs provenance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Unsafe tool invocation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Residual risk accepted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Threat modelling covers both AI use and the AI system: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MITRE ATLAS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Prompt injection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model/data/tool identities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Abuse case mapped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Training-data poisoning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prompt/retrieval/tool boundaries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Control owner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Model theft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STRIDE + ATLAS techniques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Test evidence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Unsafe tool invocation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security test case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Residual risk accepted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Threat modelling covers both AI use and the AI system: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MITRE ATLAS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AI can strengthen defence and create attack paths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Prompt injection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Abuse case mapped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Tool permissions are a primary 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Training-data poisoning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Control owner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Indirect prompt injection travels through 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Model theft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Test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Model supply chain needs provenance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Unsafe tool invocation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Residual risk accepted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Threat modelling covers both AI use and the AI system: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MITRE ATLAS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model/data/tool identities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Prompt injection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AI can strengthen defence and create attack paths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Abuse case mapped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prompt/retrieval/tool boundaries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Training-data poisoning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Tool permissions are a primary boundary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Control owner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STRIDE + ATLAS techniques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Model theft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Indirect prompt injection travels through content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Test evidence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security test case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Unsafe tool invocation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Model supply chain needs provenance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Residual risk accepted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Build-versus-buy decisions depend on control and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vendor questions · NIST AI RMF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Market scan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Risk decision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Embedded AI reduces integration effort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Build-versus-buy decisions depend on control and evidence: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vendor questions · NIST AI RMF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data use/retention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model update notice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tenant isolation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incident notification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Embedded AI reduces integration effort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Custom models increase ownership burden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Benchmarks must match local data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Exit plans prevent lock-in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Build-versus-buy decisions depend on control and evidence: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vendor questions · NIST AI RMF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Embedded AI reduces integration effort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Custom models increase ownership burden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Benchmarks must match local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Exit plans prevent lock-in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Exit plans prevent lock-in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Build-versus-buy decisions depend on control and evidence: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vendor questions · NIST AI RMF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Benchmark without dataset details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audit logs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Unannounced model changes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Provider dependency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Proof-of-value dataset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Security questionnaire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Contractual controls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Export/delete test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Build-versus-buy decisions depend on control and evidence: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vendor questions · NIST AI RMF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Proof-of-value dataset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Security questionnaire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Contractual controls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Export/delete test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8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Build-versus-buy decisions depend on control and evidence: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vendor questions · NIST AI RMF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Requirements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Market scan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request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Risk decision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Contract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Build-versus-buy decisions depend on control and evidence: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vendor questions · NIST AI RMF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data use/retention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model update notice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tenant isolation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incident notification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Embedded AI reduces integration effort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Proof-of-value dataset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Custom models increase ownership burden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Security questionnaire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Benchmarks must match local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Contractual controls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Exit plans prevent lock-in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Export/delete test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Build-versus-buy decisions depend on control and evidence: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vendor questions · NIST AI RMF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data use/retention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Embedded AI reduces integration effort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Benchmark without dataset details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Proof-of-value dataset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model update notice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Custom models increase ownership burden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No audit logs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Security questionnaire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tenant isolation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Benchmarks must match local data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Unannounced model changes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Contractual controls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incident notification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Exit plans prevent lock-in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Provider dependency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Export/delete test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Build-versus-buy decisions depend on control and evidence: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vendor questions · NIST AI RMF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Benchmark without dataset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data use/retention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Proof-of-value dataset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No audit logs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model update notice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Security questionnaire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Unannounced model changes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tenant isolation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Contractual controls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Provider dependency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incident notification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Export/delete test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Build-versus-buy decisions depend on control and evidence: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vendor questions · NIST AI RMF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Embedded AI reduces integration effort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Benchmark without dataset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Proof-of-value dataset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Custom models increase ownership burden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No audit logs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Security questionnaire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Benchmarks must match local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Unannounced model changes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Contractual controls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Exit plans prevent lock-in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Provider dependency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Export/delete test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Build-versus-buy decisions depend on control and evidence: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vendor questions · NIST AI RMF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data use/retention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Benchmark without dataset details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Embedded AI reduces integration effort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Proof-of-value dataset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model update notice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No audit logs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Custom models increase ownership burden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Security questionnaire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tenant isolation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Unannounced model changes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Benchmarks must match local data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Contractual controls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incident notification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Provider dependency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Exit plans prevent lock-in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Export/delete test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Secure adoption applies least privilege to models, tools and people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CISA Secure by Design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Authenticate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Authorise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Constrain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Monitor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model is not an identity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Secure adoption applies least privilege to models, tools and people: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CISA Secure by Design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service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scoped retrieval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tool allow-list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per-action audit event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The model is not an 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Every tool call uses a governed principal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Retrieval permissions filter before generation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Logs capture inputs, decisions and actions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Secure adoption applies least privilege to models, tools and people: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CISA Secure by Design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model is not an identity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tool call uses a governed principal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Retrieval permissions filter before generation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Logs capture inputs, decisions and actions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Logs capture inputs, decisions and actions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Secure adoption applies least privilege to models, tools and people: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CISA Secure by Design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Shared API key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Cross-tenant retrieval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Over-privileged plugin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Sensitive log content exposed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RBAC test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Tenant-isolation test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Secret scan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Access recertification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Secure adoption applies least privilege to models, tools and people: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CISA Secure by Design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RBAC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Tenant-isolation 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Secret scan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Access recertification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9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Secure adoption applies least privilege to models, tools and people: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CISA Secure by Design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Authenticate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Authorise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Constrain tools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Monitor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Secure adoption applies least privilege to models, tools and people: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CISA Secure by Design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service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scoped retrieval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tool allow-list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per-action audit 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The model is not an identity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RBAC test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Every tool call uses a governed principal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Tenant-isolation test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Retrieval permissions filter before generation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Secret scan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Logs capture inputs, decisions and actions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Access recertification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Secure adoption applies least privilege to models, tools and people: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CISA Secure by Design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service identity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The model is not an identity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Shared API key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RBAC 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scoped retrieval index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Every tool call uses a governed principal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Cross-tenant retrieval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Tenant-isolation test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tool allow-list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Retrieval permissions filter before generation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Over-privileged plugin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Secret scan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per-action audit event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Logs capture inputs, decisions and actions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Sensitive log content exposed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Access recertification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Secure adoption applies least privilege to models, tools and people: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CISA Secure by Design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Shared API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service 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RBAC 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Cross-tenant retrieval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scoped retrieval index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Tenant-isolation 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Over-privileged plugin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tool allow-list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Secret scan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Sensitive log content exposed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per-action audit event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Access recertification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Secure adoption applies least privilege to models, tools and people: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CISA Secure by Design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The model is not an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Shared API 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RBAC 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Every tool call uses a governed principal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Cross-tenant 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Tenant-isolation 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Retrieval permissions filter before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Over-privileged plugin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Secret scan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Logs capture inputs, decisions and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Sensitive log content exposed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Access recertification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Secure adoption applies least privilege to models, tools and people: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CISA Secure by Design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service identity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Shared API key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The model is not an identity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RBAC test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scoped retrieval index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Cross-tenant retrieval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Every tool call uses a governed principal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Tenant-isolation test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tool allow-list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Over-privileged plugin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Retrieval permissions filter before generation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Secret scan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per-action audit event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Sensitive log content exposed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Logs capture inputs, decisions and actions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Access recertification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operating model links people, process and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GOVERN · NIST CSF GOVERN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Govern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Product owner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SOC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Model 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Product ownership outlives the pilot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The operating model links people, process and technology: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GOVERN · NIST CSF GOVERN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RACI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change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incident 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model card + runbook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Product ownership outlives the pilot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SOC owns operational disposition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Model risk owns validation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Audit needs evidence independent of the vendor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The operating model links people, process and technology: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GOVERN · NIST CSF GOVERN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Product ownership outlives the pilot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SOC owns operational disposition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Model risk owns validation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Audit needs evidence independent of the vendor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Audit needs evidence independent of the vendor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The operating model links people, process and technology: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GOVERN · NIST CSF GOVERN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Nobody owns false positives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Change bypasses CAB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Runbook lacks fallback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Audit depends on screenshots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RACI approved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On-call route tested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Fallback exercised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pack reproducible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The operating model links people, process and technology: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GOVERN · NIST CSF GOVERN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RACI approved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On-call route tested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Fallback exercised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Evidence pack reproducible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7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The operating model links people, process and technology: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GOVERN · NIST CSF GOVERN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Govern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Product owner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SOC operations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Model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The operating model links people, process and technology: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GOVERN · NIST CSF GOVERN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RACI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change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incident 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model card + runbook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Product ownership outlives the 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RACI approved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SOC owns operational disposition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On-call route tested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Model risk owns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Fallback exercised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Audit needs evidence independent of the vendor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Evidence pack reproducible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The operating model links people, process and technology: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GOVERN · NIST CSF GOVERN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RACI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Product ownership outlives the pilot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Nobody owns false positives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RACI approved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change window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SOC owns operational disposition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Change bypasses CAB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On-call route tested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incident route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Model risk owns validation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Runbook lacks fallback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Fallback exercised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model card + runbook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Audit needs evidence independent of the vendor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Audit depends on screenshots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Evidence pack reproducible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The operating model links people, process and technology: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GOVERN · NIST CSF GOVERN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Nobody owns false positives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RACI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RACI approved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Change bypasses CAB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change window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On-call route tested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Runbook lacks fallback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incident route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Fallback exercised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Audit depends on screenshots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model card + runbook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Evidence pack reproducible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The operating model links people, process and technology: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GOVERN · NIST CSF GOVERN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Product ownership outlives the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Nobody owns false positives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RACI approved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SOC owns operational disposition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Change bypasses CAB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On-call route tested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Model risk owns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Runbook lacks fallback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Fallback exercised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Audit needs evidence independent of the vendor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Audit depends on screenshots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Evidence pack reproducible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The operating model links people, process and technology: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GOVERN · NIST CSF GOVERN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199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RACI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Nobody owns false positives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Product ownership outlives the pilot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RACI approved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change window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Change bypasses CAB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SOC owns operational disposition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On-call route tested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incident route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Runbook lacks fallback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Model risk owns validation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Fallback exercised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model card + runbook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Audit depends on screenshots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Audit needs evidence independent of the vendor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Evidence pack reproducible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HANDS-ON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5: Select and Scope an AI Security Use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Aligned to LO2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56231"/>
            <a:ext cx="1019556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Score candidate use cases on value, data readiness, integration effort, operating risk and human-oversight requirements.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871216"/>
            <a:ext cx="248716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" y="315468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Inspect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2871216"/>
            <a:ext cx="2487168" cy="8229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3154680"/>
            <a:ext cx="475488" cy="47548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Build mechanism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2871216"/>
            <a:ext cx="2487168" cy="8229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45936" y="3154680"/>
            <a:ext cx="475488" cy="47548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 boundary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2871216"/>
            <a:ext cx="2487168" cy="8229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89136" y="3154680"/>
            <a:ext cx="475488" cy="47548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Explain result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1248" y="4791456"/>
            <a:ext cx="1143000" cy="5029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791456"/>
            <a:ext cx="11430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4773168"/>
            <a:ext cx="9006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use_case_scorecard.csv and pilot-charter.md.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5148072"/>
            <a:ext cx="9006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Python 3 · CSV · Markdown · Cybersecurity Threat Simulation Lab · steps in Learner Guide and individual lab folder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ACCEPTANCE CRITERIA · FAILURE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5 verification: prove the control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Aligned to LO2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755648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70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1828800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Selected use case has measurable 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2688336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0704" y="283464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28346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2" y="2761488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Decision owner named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3621024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0704" y="37673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376732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3694176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Automation ceiling explicit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4553712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700016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70001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4626864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Stop criteria included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" y="5559552"/>
            <a:ext cx="10442448" cy="5029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5660136"/>
            <a:ext cx="99669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6845B"/>
                </a:solidFill>
                <a:latin typeface="Arial"/>
              </a:rPr>
              <a:t>Capture configuration, output, evidence reference and analyst decision - not screenshots alone.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HANDS-ON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6: Threat-Model an AI SOC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Aligned to LO2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56231"/>
            <a:ext cx="1019556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Map assets, trust boundaries and AI-specific abuse cases, then turn them into programme guardrails.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871216"/>
            <a:ext cx="248716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" y="315468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Inspect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2871216"/>
            <a:ext cx="2487168" cy="8229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3154680"/>
            <a:ext cx="475488" cy="47548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Build mechanism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2871216"/>
            <a:ext cx="2487168" cy="8229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45936" y="3154680"/>
            <a:ext cx="475488" cy="47548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 boundary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2871216"/>
            <a:ext cx="2487168" cy="8229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89136" y="3154680"/>
            <a:ext cx="475488" cy="47548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Explain result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1248" y="4791456"/>
            <a:ext cx="1143000" cy="5029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791456"/>
            <a:ext cx="11430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4773168"/>
            <a:ext cx="9006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threat_model.json and control_backlog.csv.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5148072"/>
            <a:ext cx="9006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Python 3 · JSON · MITRE ATLAS/OWASP references · Hacklab: Ethical Hacking Lab Simulator · steps in Learner Guide and individual lab folder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ACCEPTANCE CRITERIA · FAILURE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6 verification: prove the control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Aligned to LO2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755648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70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1828800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At least four trust boundaries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2688336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0704" y="283464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28346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2" y="2761488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Every abuse case has a control owner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3621024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0704" y="37673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376732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3694176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Tool actions are allow-listed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4553712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700016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70001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4626864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Residual risk is stated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" y="5559552"/>
            <a:ext cx="10442448" cy="5029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5660136"/>
            <a:ext cx="99669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6845B"/>
                </a:solidFill>
                <a:latin typeface="Arial"/>
              </a:rPr>
              <a:t>Capture configuration, output, evidence reference and analyst decision - not screenshots alone.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HANDS-ON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7: Build the AI Security Programme Charter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Aligned to LO2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56231"/>
            <a:ext cx="1019556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Translate assessed control gaps into governed programme epics, metrics, owners and decision gates.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871216"/>
            <a:ext cx="248716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" y="315468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Inspect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2871216"/>
            <a:ext cx="2487168" cy="8229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3154680"/>
            <a:ext cx="475488" cy="47548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Build mechanism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2871216"/>
            <a:ext cx="2487168" cy="8229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45936" y="3154680"/>
            <a:ext cx="475488" cy="47548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 boundary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2871216"/>
            <a:ext cx="2487168" cy="8229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89136" y="3154680"/>
            <a:ext cx="475488" cy="47548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Explain result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1248" y="4791456"/>
            <a:ext cx="1143000" cy="5029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791456"/>
            <a:ext cx="11430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4773168"/>
            <a:ext cx="9006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programme_charter.md and RACI.csv.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5148072"/>
            <a:ext cx="9006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Markdown · CSV · policy template · FauxBank Cybersecurity Training Simulation · steps in Learner Guide and individual lab folder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ACCEPTANCE CRITERIA · FAILURE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 verification: prove the control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Aligned to LO2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755648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70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1828800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Every epic traces to a gap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2688336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0704" y="283464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28346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2" y="2761488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Metric has baseline and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3621024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0704" y="37673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376732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3694176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RACI has one accountable owner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4553712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700016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70001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4626864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Retirement/exit gate exists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" y="5559552"/>
            <a:ext cx="10442448" cy="5029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5660136"/>
            <a:ext cx="99669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6845B"/>
                </a:solidFill>
                <a:latin typeface="Arial"/>
              </a:rPr>
              <a:t>Capture configuration, output, evidence reference and analyst decision - not screenshots alone.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5230368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28016" cy="4343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i-cyber-soc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616" y="1325880"/>
            <a:ext cx="5422392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1828800"/>
            <a:ext cx="4370832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TOPIC 3 · LO3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76856"/>
            <a:ext cx="437083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Developing AI-Driven Security Architecture and Action Plans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86200"/>
            <a:ext cx="4370832" cy="10241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SOC architecture · data pipeline · guarded automation · delivery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CSF 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  <p:transition spd="fast" advClick="1">
    <p:push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An AI-enhanced SOC separates evidence, inference and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Google Cloud AI for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Security lake/SIEM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Guarded response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remains queryable without the model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An AI-enhanced SOC separates evidence, inference and action: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Google Cloud AI for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immutable event 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feature/model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case evidence bundle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SOAR approval gate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Evidence remains queryable without the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 is versioned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Cases preserve human disposition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Response uses scoped service accounts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An AI-enhanced SOC separates evidence, inference and action: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Google Cloud AI for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Evidence remains queryable without the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Inference is versioned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Cases preserve human disposition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Response uses scoped service accounts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Response uses scoped service accounts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An AI-enhanced SOC separates evidence, inference and action: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Google Cloud AI for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LLM directly queries production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model version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Alert overwrites raw evidence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SOAR action lacks approval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Replay creates same result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Model/version logged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Case links raw events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Rollback tested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An AI-enhanced SOC separates evidence, inference and action: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Google Cloud AI for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Replay creates same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Model/version logged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Case links raw events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Rollback tested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9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An AI-enhanced SOC separates evidence, inference and action: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Google Cloud AI for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Telemetry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Security lake/SIEM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Guarded response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An AI-enhanced SOC separates evidence, inference and action: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Google Cloud AI for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immutable event 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feature/model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case evidence bundle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SOAR approval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Evidence remains queryable without the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Replay creates same result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Inference is versioned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Model/version logged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Cases preserve human disposition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Case links raw events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Response uses scoped service accounts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Rollback tested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An AI-enhanced SOC separates evidence, inference and action: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Google Cloud AI for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immutable event store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Evidence remains queryable without the 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LLM directly queries production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Replay creates same result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feature/model service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Inference is versioned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No model version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Model/version logged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case evidence bundle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Cases preserve human disposition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Alert overwrites raw evidence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Case links raw events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SOAR approval 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Response uses scoped service accounts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SOAR action lacks approval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Rollback tested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An AI-enhanced SOC separates evidence, inference and action: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Google Cloud AI for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LLM directly queries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immutable event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Replay creates same result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No model 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feature/model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Model/version logged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Alert overwrites raw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case evidence bundle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Case links raw events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SOAR action lacks approval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SOAR approval 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Rollback tested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An AI-enhanced SOC separates evidence, inference and action: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Google Cloud AI for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Evidence remains queryable without the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LLM directly queries 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Replay creates same result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Inference is versioned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No model 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Model/version logged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Cases preserve human disposition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Alert overwrites raw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Case links raw events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Response uses scoped service accounts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SOAR action lacks approval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Rollback tested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An AI-enhanced SOC separates evidence, inference and action: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Google Cloud AI for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immutable event store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LLM directly queries production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Evidence remains queryable without the model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Replay creates same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feature/model service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No model version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Inference is versioned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Model/version logged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case evidence bundle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Alert overwrites raw evidence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Cases preserve human disposition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Case links raw events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SOAR approval gate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SOAR action lacks approval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Response uses scoped service accounts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Rollback tested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Feature pipelines prevent training-serving skew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 for Cybersecurity ch. 3 · ML operations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Raw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Feature 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One definition serves training and inference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Feature pipelines prevent training-serving skew: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 for Cybersecurity ch. 3 · ML operations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feature name/type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window and timezone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default/null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owner/version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One definition serves training and inference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Point-in-time joins prevent leakage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Feature freshness is monitored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Backfills are versioned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Feature pipelines prevent training-serving skew: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 for Cybersecurity ch. 3 · ML operations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definition serves training and inference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Point-in-time joins prevent leakage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Feature freshness is monitored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Backfills are versioned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Backfills are versioned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Feature pipelines prevent training-serving skew: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 for Cybersecurity ch. 3 · ML operations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Future data leaks into training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Different parser in production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Null default changes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Stale enrichment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Offline/online parity test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Feature freshness SLO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Schema contract test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Backfill audit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Feature pipelines prevent training-serving skew: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 for Cybersecurity ch. 3 · ML operations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Offline/online parity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Feature freshness SLO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Schema contract test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Backfill audit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10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Feature pipelines prevent training-serving skew: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 for Cybersecurity ch. 3 · ML operations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Raw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Transform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Feature store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Train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Serve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Feature pipelines prevent training-serving skew: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 for Cybersecurity ch. 3 · ML operations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feature name/type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window and timezone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default/null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owner/version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One definition serves training and inference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Offline/online parity test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Point-in-time joins prevent leakage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Feature freshness SLO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Feature freshness is monitored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Schema contract test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Backfills are versioned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Backfill audit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Feature pipelines prevent training-serving skew: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 for Cybersecurity ch. 3 · ML operations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feature name/type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One definition serves training and inference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Future data leaks into training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Offline/online parity 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window and timezone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Point-in-time joins prevent leakage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Different parser in production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Feature freshness SLO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default/null policy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Feature freshness is monitored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Null default changes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Schema contract test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owner/version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Backfills are versioned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Stale enrichment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Backfill audit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Feature pipelines prevent training-serving skew: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 for Cybersecurity ch. 3 · ML operations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Future data leaks into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feature name/type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Offline/online parity 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Different parser in 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window and timezone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Feature freshness SLO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Null default changes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default/null policy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Schema contract test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Stale enrichment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owner/version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Backfill audit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Feature pipelines prevent training-serving skew: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 for Cybersecurity ch. 3 · ML operations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One definition serves training and 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Future data leaks into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Offline/online parity 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Point-in-time joins prevent leakage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Different parser in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Feature freshness SLO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Feature freshness is monitored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Null default changes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Schema contract 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Backfills are versioned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Stale enrichment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Backfill audit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Feature pipelines prevent training-serving skew: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AI for Cybersecurity ch. 3 · ML operations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feature name/type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Future data leaks into training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One definition serves training and inference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Offline/online parity test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window and timezone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Different parser in production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Point-in-time joins prevent leakage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Feature freshness SLO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default/null policy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Null default changes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Feature freshness is monitored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Schema contract test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owner/version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Stale enrichment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Backfills are versioned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Backfill audit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SIEM plus ML uses rules and models as complementary detectors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Red Hat AI security use cases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Rule 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Model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Correlation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Case severity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Disposition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Rules encode known policy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SIEM plus ML uses rules and models as complementary detectors: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Red Hat AI security use cases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rule_id +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model_id +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entity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reason codes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Rules encode known policy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Models surface weak novel patterns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Correlation reduces isolated noise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Disposition feeds both tuning loops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SIEM plus ML uses rules and models as complementary detectors: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Red Hat AI security use cases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Rules encode known policy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Models surface weak novel patterns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Correlation reduces isolated noise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Disposition feeds both tuning loops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Disposition feeds both tuning loops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SIEM plus ML uses rules and models as complementary detectors: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Red Hat AI security use cases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Model replaces high-confidence rule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Duplicate alerts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Correlation window too wide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Feedback label leakage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Detection-as-code test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Duplicate suppression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Latency SLO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Tuning change record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SIEM plus ML uses rules and models as complementary detectors: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Red Hat AI security use cases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Detection-as-code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Duplicate suppression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Latency SLO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Tuning change record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10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SIEM plus ML uses rules and models as complementary detectors: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Red Hat AI security use cases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Rule 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Model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Correlation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Case severity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Disposition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SIEM plus ML uses rules and models as complementary detectors: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Red Hat AI security use cases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rule_id +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model_id +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entity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reason codes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Rules encode known policy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Detection-as-code test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Models surface weak novel patterns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Duplicate suppression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Correlation reduces isolated noise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Latency SLO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Disposition feeds both tuning loops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Tuning change record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SIEM plus ML uses rules and models as complementary detectors: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Red Hat AI security use cases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rule_id + version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Rules encode known policy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Model replaces high-confidence rule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Detection-as-code 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model_id + threshold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Models surface weak novel patterns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Duplicate alerts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Duplicate suppression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entity graph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Correlation reduces isolated noise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Correlation window too wide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Latency SLO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reason codes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Disposition feeds both tuning loops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Feedback label leakage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Tuning change record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SIEM plus ML uses rules and models as complementary detectors: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Red Hat AI security use cases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Model replaces high-confidence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rule_id + 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Detection-as-code 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Duplicate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model_id + threshold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Duplicate suppression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Correlation window too wide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entity graph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Latency SLO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Feedback label leakage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reason codes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Tuning change record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SIEM plus ML uses rules and models as complementary detectors: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Red Hat AI security use cases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Rules encode known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Model replaces high-confidence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Detection-as-code 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Models surface weak novel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Duplicate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Duplicate suppression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Correlation reduces isolated noise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Correlation window too wide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Latency SLO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Disposition feeds both tuning loops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Feedback label leakage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Tuning change record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SIEM plus ML uses rules and models as complementary detectors: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Red Hat AI security use cases · 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rule_id + version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Model replaces high-confidence rule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Rules encode known policy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Detection-as-code test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model_id + threshold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Duplicate alerts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Models surface weak novel patterns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Duplicate suppression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entity graph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Correlation window too wide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Correlation reduces isolated noise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Latency SLO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reason codes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Feedback label leakage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Disposition feeds both tuning loops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Tuning change record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RAG grounds an analyst assistant in approved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OWASP LLM Top 10 · NIST AI RMF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Curate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Chunk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Retrieve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Cite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Retrieval narrows evidence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RAG grounds an analyst assistant in approved evidence: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OWASP LLM Top 10 · NIST AI RMF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document_id/version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chunk + ACL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top_k + similarity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answer + citations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Retrieval narrows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ACL filtering precedes generation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Citations enable verification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Abstention is a valid output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RAG grounds an analyst assistant in approved evidence: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OWASP LLM Top 10 · NIST AI RMF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Retrieval narrows 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ACL filtering precedes generation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Citations enable verification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Abstention is a valid output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Abstention is a valid output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RAG grounds an analyst assistant in approved evidence: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OWASP LLM Top 10 · NIST AI RMF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Indirect prompt injection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Stale runbook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Cross-case retrieval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Confident uncited answer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Citation precision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Forbidden-document test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Freshness check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Abstention threshold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RAG grounds an analyst assistant in approved evidence: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OWASP LLM Top 10 · NIST AI RMF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Citation precision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Forbidden-document 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Freshness check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Abstention threshold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10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RAG grounds an analyst assistant in approved evidence: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OWASP LLM Top 10 · NIST AI RMF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Chunk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Retrieve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Cite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RAG grounds an analyst assistant in approved evidence: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OWASP LLM Top 10 · NIST AI RMF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document_id/version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chunk + ACL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top_k + similarity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answer + citations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Retrieval narrows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Citation precision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ACL filtering precedes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Forbidden-document test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Citations enable verification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Freshness check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Abstention is a valid 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Abstention threshold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RAG grounds an analyst assistant in approved evidence: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OWASP LLM Top 10 · NIST AI RMF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document_id/version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Retrieval narrows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Indirect prompt injection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Citation precision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chunk + ACL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ACL filtering precedes generation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Stale runbook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Forbidden-document test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top_k + similarity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Citations enable verification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Cross-case retrieval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Freshness check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answer + citations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Abstention is a valid output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Confident uncited answer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Abstention threshold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RAG grounds an analyst assistant in approved evidence: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OWASP LLM Top 10 · NIST AI RMF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Indirect prompt injection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document_id/version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Citation precision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Stale runbook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chunk + ACL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Forbidden-document 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Cross-case retrieval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top_k + similarity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Freshness check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Confident uncited answer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answer + citations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Abstention threshold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RAG grounds an analyst assistant in approved evidence: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OWASP LLM Top 10 · NIST AI RMF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Retrieval narrows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Indirect prompt injection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Citation precision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ACL filtering precedes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Stale runbook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Forbidden-document 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Citations enable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Cross-case 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Freshness check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Abstention is a valid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Confident uncited 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Abstention threshold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RAG grounds an analyst assistant in approved evidence: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OWASP LLM Top 10 · NIST AI RMF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document_id/version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Indirect prompt injection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Retrieval narrows evidence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Citation precision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chunk + ACL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Stale runbook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ACL filtering precedes generation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Forbidden-document test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top_k + similarity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Cross-case retrieval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Citations enable verification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Freshness check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answer + citations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Confident uncited answer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Abstention is a valid output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Abstention threshold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Identity boundaries control every AI-to-tool transition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CISA Secure by Design · zero-trust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Tool broker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Target 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tool broker mediates calls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Identity boundaries control every AI-to-tool transition: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CISA Secure by Design · zero-trust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user/session claims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workload 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delegated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policy decision + audit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The tool broker mediates calls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Delegation cannot exceed the user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Secrets stay outside prompts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Break-glass is separate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Identity boundaries control every AI-to-tool transition: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CISA Secure by Design · zero-trust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tool broker mediates calls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Delegation cannot exceed the user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Secrets stay outside prompts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Break-glass is separate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Break-glass is separate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Identity boundaries control every AI-to-tool transition: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CISA Secure by Design · zero-trust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Model holds admin token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Confused deputy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Long-lived secret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Unlogged break-glass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Token scope test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Denied-action test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Secret rotation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Break-glass review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Identity boundaries control every AI-to-tool transition: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CISA Secure by Design · zero-trust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Token scope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Denied-action 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Secret rotation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Break-glass review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9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Identity boundaries control every AI-to-tool transition: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CISA Secure by Design · zero-trust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broker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Target system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Identity boundaries control every AI-to-tool transition: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CISA Secure by Design · zero-trust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user/session claims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workload 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delegated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policy decision +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The tool broker mediates calls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Token scope test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Delegation cannot exceed the user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Denied-action test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Secrets stay outside prompts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Secret rotation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Break-glass is separate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Break-glass review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Identity boundaries control every AI-to-tool transition: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CISA Secure by Design · zero-trust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user/session claims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The tool broker mediates calls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Model holds admin token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Token scope 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workload identity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Delegation cannot exceed the user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Confused deputy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Denied-action test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delegated scope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Secrets stay outside prompts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Long-lived secret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Secret rotation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policy decision + audit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Break-glass is separate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Unlogged break-glass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Break-glass review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Identity boundaries control every AI-to-tool transition: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CISA Secure by Design · zero-trust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Model holds admin 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user/session claims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Token scope 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Confused deputy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workload identity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Denied-action 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Long-lived secret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delegated 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Secret rotation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Unlogged break-glass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policy decision + audit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Break-glass review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Identity boundaries control every AI-to-tool transition: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CISA Secure by Design · zero-trust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The tool broker mediates calls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Model holds admin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Token scope 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Delegation cannot exceed the 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Confused deputy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Denied-action 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Secrets stay outside prompts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Long-lived secret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Secret rotation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Break-glass is separate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Unlogged break-glass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Break-glass review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Identity boundaries control every AI-to-tool transition: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CISA Secure by Design · zero-trust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user/session claims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Model holds admin token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The tool broker mediates calls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Token scope test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workload identity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Confused deputy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Delegation cannot exceed the user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Denied-action test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delegated scope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Long-lived secret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Secrets stay outside prompts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Secret rotation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policy decision + audit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Unlogged break-glass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Break-glass is separate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Break-glass review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Guarded SOAR uses policy gates and reversible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SOAR design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Enrich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Recommend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Simulate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Execute/rollback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Simulation checks blast radius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Guarded SOAR uses policy gates and reversible actions: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SOAR design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action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target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precondition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248656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248656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rollback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Simulation checks blast radius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Preconditions prevent stale actions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Approval follows impact tier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Rollback is part of the playbook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Guarded SOAR uses policy gates and reversible actions: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SOAR design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Simulation checks blast radius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Preconditions prevent stale actions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Approval follows impact tier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Rollback is part of the playbook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Rollback is part of the playbook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Guarded SOAR uses policy gates and reversible actions: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SOAR design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Race condition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entity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Partial execution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Rollback dependency unavailable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Dry-run output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Approval record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Post-action verification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Rollback exercise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Guarded SOAR uses policy gates and reversible actions: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SOAR design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Dry-run output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Approval record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Post-action verification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Rollback exercise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11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Guarded SOAR uses policy gates and reversible actions: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SOAR design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Enrich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Recommend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Simulate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Approve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Execute/rollback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Guarded SOAR uses policy gates and reversible actions: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SOAR design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action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target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precondition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Simulation checks blast radius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Dry-run output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Preconditions prevent stale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Approval record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Approval follows impact tier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Post-action verification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Rollback is part of the playbook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Rollback exercise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Guarded SOAR uses policy gates and reversible actions: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SOAR design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action type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Simulation checks blast radius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Race condition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Dry-run output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target scope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Preconditions prevent stale actions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Wrong entity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Approval record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precondition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Approval follows impact tier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Partial execution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Post-action verification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approval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Rollback is part of the playbook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Rollback dependency unavailable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Rollback exercise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Guarded SOAR uses policy gates and reversible actions: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SOAR design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Race condition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action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Dry-run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Wrong entity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target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Approval record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Partial 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precondition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Post-action verification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Rollback dependency unavailable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approval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Rollback exercise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Guarded SOAR uses policy gates and reversible actions: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SOAR design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Simulation checks blast radius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Race condition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Dry-run 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Preconditions prevent stale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Wrong entity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Approval record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Approval follows impact tier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Partial execution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Post-action verification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Rollback is part of the playbook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Rollback dependency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Rollback exercise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Guarded SOAR uses policy gates and reversible actions: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SOAR design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action type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Race condition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Simulation checks blast radius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Dry-run output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target scope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Wrong entity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Preconditions prevent stale actions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Approval record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precondition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Partial execution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Approval follows impact tier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Post-action verification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approval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Rollback dependency unavailable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Rollback is part of the playbook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Rollback exercise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An action plan converts architecture into sequenced delivery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Current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Target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Work packages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Dependencies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Milestones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Architecture decisions constrain work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An action plan converts architecture into sequenced delivery: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epic/control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owner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start/end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dependency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248656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248656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acceptance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Architecture decisions constrain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Critical path exposes sequencing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Pilot and production have different gates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Regulatory changes trigger backlog review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An action plan converts architecture into sequenced delivery: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Architecture decisions constrain 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Critical path exposes sequencing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Pilot and production have different gates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Regulatory changes trigger backlog review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Regulatory changes trigger backlog review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An action plan converts architecture into sequenced delivery: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Roadmap has dates but no dependencies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Control evidence deferred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decommission task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Owner changes silently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Dependency review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Milestone evidence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Risk burn-down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Change log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An action plan converts architecture into sequenced delivery: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Dependency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Milestone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Risk burn-down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Change log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11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An action plan converts architecture into sequenced delivery: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Current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Target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Work packages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Dependencies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Milestones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An action plan converts architecture into sequenced delivery: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epic/control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owner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start/end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dependency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Architecture decisions constrain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Dependency 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Critical path exposes sequencing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Milestone evidence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Pilot and production have different gates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Risk burn-down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Regulatory changes trigger backlog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Change log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An action plan converts architecture into sequenced delivery: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epic/control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Architecture decisions constrain work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Roadmap has dates but no dependencies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Dependency 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owner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Critical path exposes sequencing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Control evidence deferred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Milestone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start/end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Pilot and production have different gates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No decommission task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Risk burn-down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dependency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Regulatory changes trigger backlog review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Owner changes silently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Change log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An action plan converts architecture into sequenced delivery: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Roadmap has dates but no dependencies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epic/control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Dependency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Control evidence deferred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owner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Milestone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No decommission task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start/end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Risk burn-down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Owner changes silently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dependency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Change log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An action plan converts architecture into sequenced delivery: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Architecture decisions constrain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Roadmap has dates but no dependencies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Dependency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Critical path exposes sequencing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Control evidence deferred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Milestone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Pilot and production have different gates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No decommission task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Risk burn-down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Regulatory changes trigger backlog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Owner changes silently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Change log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An action plan converts architecture into sequenced delivery: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epic/control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Roadmap has dates but no dependencies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Architecture decisions constrain work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Dependency review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owner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Control evidence deferred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Critical path exposes sequencing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Milestone evidence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start/end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No decommission task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Pilot and production have different gates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Risk burn-down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dependency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Owner changes silently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Regulatory changes trigger backlog review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Change log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Resilience assumes models and providers can fail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CSF RECOVER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Detect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Degrade safely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Learn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Security fundamentals remain available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Resilience assumes models and providers can fail: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CSF RECOVER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availability/latency SLO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manual/rule fallback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backup 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recovery objective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Security fundamentals remain available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Fail-closed is not always safe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Fallback needs equivalent audit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Recovery includes model and index versions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Resilience assumes models and providers can fail: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CSF RECOVER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Security fundamentals remain available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Fail-closed is not always safe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Fallback needs equivalent audit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Recovery includes model and index versions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 includes model and index versions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Resilience assumes models and providers can fail: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CSF RECOVER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Provider outage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Corrupt vector index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Rate-limit spike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Bad model rollout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Game-day exercise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Manual queue works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Restore checksum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Post-incident action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Resilience assumes models and providers can fail: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CSF RECOVER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Game-day exercise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Manual queue works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Restore checksum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Post-incident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11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Resilience assumes models and providers can fail: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CSF RECOVER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Detect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Degrade safely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Fallback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Recover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Learn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Resilience assumes models and providers can fail: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CSF RECOVER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availability/latency SLO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manual/rule fallback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backup 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recovery 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Security fundamentals remain available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Game-day exercise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Fail-closed is not always safe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Manual queue works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Fallback needs equivalent audit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Restore checksum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Recovery includes model and index versions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Post-incident action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Resilience assumes models and providers can fail: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CSF RECOVER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availability/latency SLO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Security fundamentals remain available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Provider outage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Game-day exercise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manual/rule fallback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Fail-closed is not always safe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Corrupt vector index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Manual queue works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backup configuration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Fallback needs equivalent audit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Rate-limit spike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Restore checksum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recovery objective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Recovery includes model and index versions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Bad model rollout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Post-incident action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Resilience assumes models and providers can fail: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CSF RECOVER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Provider outage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availability/latency SLO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Game-day exercise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Corrupt vector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manual/rule fallback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Manual queue works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Rate-limit spike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backup configuration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Restore checksum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Bad model rollout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recovery objective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Post-incident action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Resilience assumes models and providers can fail: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CSF RECOVER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Security fundamentals remain available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Provider outage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Game-day exercise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Fail-closed is not always safe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Corrupt vector index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Manual queue works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Fallback needs equivalent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Rate-limit spike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Restore checksum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Recovery includes model and index versions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Bad model rollout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Post-incident action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Resilience assumes models and providers can fail: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CSF RECOVER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availability/latency SLO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Provider outage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Security fundamentals remain available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Game-day exercise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manual/rule fallback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Corrupt vector index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Fail-closed is not always safe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Manual queue works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backup configuration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Rate-limit spike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Fallback needs equivalent audit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Restore checksum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recovery objective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Bad model rollout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Recovery includes model and index versions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Post-incident action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HANDS-ON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8: Design an AI-Enhanced SOC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Aligned to LO3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56231"/>
            <a:ext cx="1019556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Design a layered architecture that separates evidence, inference, case management and guarded action.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871216"/>
            <a:ext cx="248716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" y="315468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Inspect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2871216"/>
            <a:ext cx="2487168" cy="8229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3154680"/>
            <a:ext cx="475488" cy="47548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Build mechanism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2871216"/>
            <a:ext cx="2487168" cy="8229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45936" y="3154680"/>
            <a:ext cx="475488" cy="47548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 boundary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2871216"/>
            <a:ext cx="2487168" cy="8229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89136" y="3154680"/>
            <a:ext cx="475488" cy="47548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Explain result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1248" y="4791456"/>
            <a:ext cx="1143000" cy="5029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791456"/>
            <a:ext cx="11430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4773168"/>
            <a:ext cx="9006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soc_architecture.json and ADR-001.md.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5148072"/>
            <a:ext cx="9006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JSON · architecture template · Cryptography Toolkit · steps in Learner Guide and individual lab folder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ACCEPTANCE CRITERIA · FAILURE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 verification: prove the control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Aligned to LO3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755648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70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1828800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Raw evidence is immutable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2688336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0704" y="283464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28346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2" y="2761488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Model and prompt versions logged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3621024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0704" y="37673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376732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3694176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Tool actions use scoped identity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4553712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700016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70001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4626864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Manual fallback documented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" y="5559552"/>
            <a:ext cx="10442448" cy="5029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5660136"/>
            <a:ext cx="99669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6845B"/>
                </a:solidFill>
                <a:latin typeface="Arial"/>
              </a:rPr>
              <a:t>Capture configuration, output, evidence reference and analyst decision - not screenshots alone.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HANDS-ON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9: Build a Grounded Threat-Intelligence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Aligned to LO3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56231"/>
            <a:ext cx="1019556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Retrieve from approved threat bulletins and produce cited, abstaining summaries without external APIs.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871216"/>
            <a:ext cx="248716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" y="315468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Inspect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2871216"/>
            <a:ext cx="2487168" cy="8229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3154680"/>
            <a:ext cx="475488" cy="47548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Build mechanism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2871216"/>
            <a:ext cx="2487168" cy="8229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45936" y="3154680"/>
            <a:ext cx="475488" cy="47548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 boundary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2871216"/>
            <a:ext cx="2487168" cy="8229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89136" y="3154680"/>
            <a:ext cx="475488" cy="47548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Explain result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1248" y="4791456"/>
            <a:ext cx="1143000" cy="5029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791456"/>
            <a:ext cx="11430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4773168"/>
            <a:ext cx="9006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retrieval_results.json and cited-analyst-brief.md.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5148072"/>
            <a:ext cx="9006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Python 3 · TF-IDF · local documents · Hacklab: Ethical Hacking Lab Simulator · steps in Learner Guide and individual lab folder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ACCEPTANCE CRITERIA · FAILURE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9 verification: prove the control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Aligned to LO3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755648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70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1828800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Every claim has document citation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2688336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0704" y="283464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28346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2" y="2761488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ACL filtering occurs before retrieval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3621024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0704" y="37673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376732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3694176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Unknown query abstains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4553712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700016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70001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4626864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Embedded instructions are treated as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" y="5559552"/>
            <a:ext cx="10442448" cy="5029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5660136"/>
            <a:ext cx="99669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6845B"/>
                </a:solidFill>
                <a:latin typeface="Arial"/>
              </a:rPr>
              <a:t>Capture configuration, output, evidence reference and analyst decision - not screenshots alone.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HANDS-ON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10: Design a Guarded SOAR Playbook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Aligned to LO3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299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56231"/>
            <a:ext cx="1019556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Build a reversible, approval-gated response playbook for suspicious account activity.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871216"/>
            <a:ext cx="248716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" y="315468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Inspect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2871216"/>
            <a:ext cx="2487168" cy="8229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3154680"/>
            <a:ext cx="475488" cy="47548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Build mechanism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2871216"/>
            <a:ext cx="2487168" cy="8229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45936" y="3154680"/>
            <a:ext cx="475488" cy="47548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 boundary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2871216"/>
            <a:ext cx="2487168" cy="8229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89136" y="3154680"/>
            <a:ext cx="475488" cy="47548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Explain result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1248" y="4791456"/>
            <a:ext cx="1143000" cy="5029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791456"/>
            <a:ext cx="11430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4773168"/>
            <a:ext cx="9006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playbook.json and dry_run_report.json.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5148072"/>
            <a:ext cx="9006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Python 3 · JSON · FauxBank Cybersecurity Training Simulation · steps in Learner Guide and individual lab folder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ACCEPTANCE CRITERIA · FAILURE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10 verification: prove the control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Aligned to LO3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755648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70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1828800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Default mode is dry-run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2688336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0704" y="283464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28346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2" y="2761488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Target identity is verified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3621024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0704" y="37673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376732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3694176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Approval recorded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4553712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700016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70001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4626864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Rollback and post-check exist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" y="5559552"/>
            <a:ext cx="10442448" cy="5029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5660136"/>
            <a:ext cx="99669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6845B"/>
                </a:solidFill>
                <a:latin typeface="Arial"/>
              </a:rPr>
              <a:t>Capture configuration, output, evidence reference and analyst decision - not screenshots alone.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HANDS-ON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11: Create a 90-Day AI Security Action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Aligned to LO3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56231"/>
            <a:ext cx="1019556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Sequence architecture work packages, dependencies, acceptance evidence and regulatory review triggers.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871216"/>
            <a:ext cx="248716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" y="315468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Inspect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2871216"/>
            <a:ext cx="2487168" cy="8229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3154680"/>
            <a:ext cx="475488" cy="47548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Build mechanism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2871216"/>
            <a:ext cx="2487168" cy="8229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45936" y="3154680"/>
            <a:ext cx="475488" cy="47548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 boundary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2871216"/>
            <a:ext cx="2487168" cy="8229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89136" y="3154680"/>
            <a:ext cx="475488" cy="47548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Explain result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1248" y="4791456"/>
            <a:ext cx="1143000" cy="5029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791456"/>
            <a:ext cx="11430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4773168"/>
            <a:ext cx="9006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action_plan.csv and roadmap.md.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5148072"/>
            <a:ext cx="9006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Python 3 · CSV · Hacklab: Ethical Hacking Lab Simulator · steps in Learner Guide and individual lab folder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ACCEPTANCE CRITERIA · FAILURE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11 verification: prove the control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Aligned to LO3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755648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70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1828800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No dependency cycles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2688336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0704" y="283464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28346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2" y="2761488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Every work package has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3621024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0704" y="37673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376732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3694176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Critical path identified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4553712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700016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70001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4626864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Change triggers recorded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" y="5559552"/>
            <a:ext cx="10442448" cy="5029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5660136"/>
            <a:ext cx="99669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6845B"/>
                </a:solidFill>
                <a:latin typeface="Arial"/>
              </a:rPr>
              <a:t>Capture configuration, output, evidence reference and analyst decision - not screenshots alone.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5230368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28016" cy="4343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i-governance-human-over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616" y="1325880"/>
            <a:ext cx="5422392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1828800"/>
            <a:ext cx="4370832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845B"/>
                </a:solidFill>
                <a:latin typeface="Arial"/>
              </a:rPr>
              <a:t>TOPIC 4 · LO4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76856"/>
            <a:ext cx="437083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Monitoring, Evaluating and Governing AI Security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86200"/>
            <a:ext cx="4370832" cy="10241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Metrics · drift · adversarial testing · standards · advisory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1.0 · MITRE ATLAS · OWASP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303</a:t>
            </a:r>
          </a:p>
        </p:txBody>
      </p:sp>
    </p:spTree>
  </p:cSld>
  <p:clrMapOvr>
    <a:masterClrMapping/>
  </p:clrMapOvr>
  <p:transition spd="fast" advClick="1">
    <p:push/>
  </p:transition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4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Confusion-matrix metrics connect detection to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MEASURE · standard ML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Predictions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TP/FP/FN/TN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Metrics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Operating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Accuracy hides class imbalance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Confusion-matrix metrics connect detection to operations: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MEASURE · standard ML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precision=TP/(TP+FP)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recall=TP/(TP+FN)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FPR=FP/(FP+TN)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cost = FP*c_fp + FN*c_fn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Accuracy hides class imbalance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Precision measures alert usefulness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Recall measures missed-threat exposure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Cost weights business consequence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EDITABLE POWERPOINT CHART · INDICATIVE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Confusion-matrix metrics connect detection to operations: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MEASURE · standard ML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306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691640"/>
          <a:ext cx="73609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394192" y="1691640"/>
            <a:ext cx="3099816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975104"/>
            <a:ext cx="2615184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505456"/>
            <a:ext cx="2542032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same F1 can hide different operational trade-offs; choose by miss cost and analyst capacity.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5102352"/>
            <a:ext cx="2514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Indicative figures - validate on local data.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Confusion-matrix metrics connect detection to operations: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MEASURE · standard ML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Evaluation set not representative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Labels from same detector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Metric without confidence interval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Threshold changed without review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Frozen test set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Class prevalence reported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Operating threshold approved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Metric tied to workload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Confusion-matrix metrics connect detection to operations: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MEASURE · standard ML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Frozen test 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Class prevalence reported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Operating threshold approved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Metric tied to workload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12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Confusion-matrix metrics connect detection to operations: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MEASURE · standard ML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Predictions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TP/FP/FN/TN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Metrics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Operating point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Confusion-matrix metrics connect detection to operations: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MEASURE · standard ML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precision=TP/(TP+FP)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recall=TP/(TP+FN)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FPR=FP/(FP+TN)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cost = FP*c_fp + FN*c_fn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Accuracy hides class imbalance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Frozen test 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Precision measures alert usefulness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Class prevalence reported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Recall measures missed-threat exposure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Operating threshold approved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Cost weights business consequence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Metric tied to workload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Confusion-matrix metrics connect detection to operations: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MEASURE · standard ML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precision=TP/(TP+FP)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Accuracy hides class imbalance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Evaluation set not representative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Frozen test 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recall=TP/(TP+FN)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Precision measures alert usefulness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Labels from same detector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Class prevalence reported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FPR=FP/(FP+TN)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Recall measures missed-threat exposure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Metric without confidence interval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Operating threshold approved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cost = FP*c_fp + FN*c_fn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Cost weights business consequence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Threshold changed without review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Metric tied to workload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Confusion-matrix metrics connect detection to operations: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MEASURE · standard ML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Evaluation set not representative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precision=TP/(TP+FP)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Frozen test 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Labels from same detector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recall=TP/(TP+FN)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Class prevalence reported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Metric without confidence interval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FPR=FP/(FP+TN)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Operating threshold approved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Threshold changed without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cost = FP*c_fp + FN*c_fn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Metric tied to workload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Confusion-matrix metrics connect detection to operations: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MEASURE · standard ML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Accuracy hides class imbalance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Evaluation set not representative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Frozen test 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Precision measures alert usefulness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Labels from same detector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Class prevalence reported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Recall measures missed-threat exposure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Metric without confidence interval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Operating threshold approved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Cost weights business consequence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Threshold changed without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Metric tied to workload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Confusion-matrix metrics connect detection to operations: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MEASURE · standard ML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precision=TP/(TP+FP)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Evaluation set not representative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Accuracy hides class imbalance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Frozen test set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recall=TP/(TP+FN)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Labels from same detector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Precision measures alert usefulness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Class prevalence reported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FPR=FP/(FP+TN)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Metric without confidence interval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Recall measures missed-threat exposure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Operating threshold approved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cost = FP*c_fp + FN*c_fn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Threshold changed without review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Cost weights business consequence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Metric tied to workload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4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Drift monitoring compares live distributions and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MEASURE · MLOps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Live window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Feature drift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Performance drift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Input drift is an early warning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Drift monitoring compares live distributions and outcomes: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MEASURE · MLOps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PSI = Σ(actual-expected) ln(actual/expected)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feature null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score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confirmed precision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Input drift is an early warning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Performance needs delayed labels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Seasonality needs matched baselines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Retraining is not the only response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EDITABLE POWERPOINT CHART · INDICATIVE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Drift monitoring compares live distributions and outcomes: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MEASURE · MLOps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317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691640"/>
          <a:ext cx="73609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394192" y="1691640"/>
            <a:ext cx="3099816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975104"/>
            <a:ext cx="2615184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505456"/>
            <a:ext cx="2542032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 rising PSI is a diagnostic trigger; it does not by itself prove the detector is wrong.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5102352"/>
            <a:ext cx="2514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Indicative figures - validate on local data.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Drift monitoring compares live distributions and outcomes: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MEASURE · MLOps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Alert fatigue from noisy drift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Silent schema change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Poisoned feedback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Automatic retraining on attacks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Drift thresholds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Schema-change alert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Label quality sample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Rollback/recalibrate decision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Drift monitoring compares live distributions and outcomes: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MEASURE · MLOps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Drift thresholds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Schema-change alert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Label quality sample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Rollback/recalibrate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12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Drift monitoring compares live distributions and outcomes: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MEASURE · MLOps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Live 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Feature drift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Performance drift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Drift monitoring compares live distributions and outcomes: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MEASURE · MLOps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PSI = Σ(actual-expected) ln(actual/expected)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feature null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score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confirmed precision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Input drift is an early warning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Drift thresholds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Performance needs delayed labels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Schema-change alert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Seasonality needs matched baselines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Label quality sample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Retraining is not the only response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Rollback/recalibrate decision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Drift monitoring compares live distributions and outcomes: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MEASURE · MLOps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PSI = Σ(actual-expected) ln(actual/expected)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Input drift is an early warning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Alert fatigue from noisy drift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Drift thresholds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feature null rate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Performance needs delayed labels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Silent schema change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Schema-change alert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score distribution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Seasonality needs matched baselines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Poisoned feedback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Label quality sample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confirmed precision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Retraining is not the only response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Automatic retraining on attacks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Rollback/recalibrate decision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Drift monitoring compares live distributions and outcomes: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MEASURE · MLOps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Alert fatigue from noisy drift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PSI = Σ(actual-expected) ln(actual/expected)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Drift thresholds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Silent schema change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feature null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Schema-change alert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Poisoned 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score distribution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Label quality sample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Automatic retraining on attacks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confirmed precision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Rollback/recalibrate decision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Drift monitoring compares live distributions and outcomes: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MEASURE · MLOps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Input drift is an early warning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Alert fatigue from noisy drift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Drift thresholds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Performance needs delayed labels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Silent schema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Schema-change alert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Seasonality needs matched baselines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Poisoned 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Label quality sample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Retraining is not the only 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Automatic retraining on attacks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Rollback/recalibrate decision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Drift monitoring compares live distributions and outcomes: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MEASURE · MLOps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PSI = Σ(actual-expected) ln(actual/expected)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Alert fatigue from noisy drift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Input drift is an early warning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Drift thresholds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feature null rate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Silent schema change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Performance needs delayed labels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Schema-change alert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score distribution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Poisoned feedback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Seasonality needs matched baselines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Label quality sample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confirmed precision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Automatic retraining on attacks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Retraining is not the only response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Rollback/recalibrate decision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4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Grounding and citation tests manage hallucination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Retrieve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Verify/abstain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Faithfulness differs from usefulness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Grounding and citation tests manage hallucination risk: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claim span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source document/version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entailment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abstention reason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Faithfulness differs from usefulness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Citation presence is not citation correctness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Unsupported claims can be blocked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High-impact advice requires review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Grounding and citation tests manage hallucination risk: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Faithfulness differs from usefulness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Citation presence is not citation correctness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Unsupported claims can be blocked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High-impact advice requires review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High-impact advice requires review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Grounding and citation tests manage hallucination risk: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Fabricated IOC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Citation points to irrelevant paragraph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Stale policy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Answer exceeds source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Claim-level citation test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Freshness SLO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Known-unanswerable set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Analyst sign-off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Grounding and citation tests manage hallucination risk: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Claim-level citation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Freshness SLO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Known-unanswerable set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Analyst sign-off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10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Grounding and citation tests manage hallucination risk: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Retrieve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Verify/abstain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Grounding and citation tests manage hallucination risk: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claim span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source document/version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entailment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abstention reason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Faithfulness differs from usefulness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Claim-level citation test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Citation presence is not citation correctness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Freshness SLO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Unsupported claims can be blocked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Known-unanswerable set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High-impact advice requires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Analyst sign-off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Grounding and citation tests manage hallucination risk: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claim span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Faithfulness differs from usefulness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Fabricated IOC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Claim-level citation 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 document/version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Citation presence is not citation correctness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Citation points to irrelevant paragraph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Freshness SLO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entailment result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Unsupported claims can be blocked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Stale policy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Known-unanswerable set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abstention reason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High-impact advice requires review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Answer exceeds source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Analyst sign-off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Grounding and citation tests manage hallucination risk: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Fabricated IOC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claim span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Claim-level citation 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Citation points to irrelevant paragraph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source document/version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Freshness SLO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Stale 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entailment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Known-unanswerable set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Answer exceeds source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abstention reason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Analyst sign-off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Grounding and citation tests manage hallucination risk: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Faithfulness differs from usefulness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Fabricated IOC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Claim-level citation 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Citation presence is not citation correctness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Citation points to irrelevant paragraph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Freshness SLO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Unsupported claims can be blocked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Stale 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Known-unanswerable set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High-impact advice requires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Answer exceeds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Analyst sign-off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Grounding and citation tests manage hallucination risk: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AI RMF · OWASP LLM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claim span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Fabricated IOC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Faithfulness differs from usefulness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Claim-level citation test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source document/version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Citation points to irrelevant paragraph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Citation presence is not citation correctness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Freshness SLO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entailment result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Stale policy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Unsupported claims can be blocked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Known-unanswerable set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abstention reason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Answer exceeds source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High-impact advice requires review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Analyst sign-off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4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Adversarial testing follows attacker goals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MITRE ATLAS · NIST AI 100-2e2025 · OWASP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Threat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cases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Execute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Remediate/retest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Direct injection targets user input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Adversarial testing follows attacker goals and trust boundaries: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MITRE ATLAS · NIST AI 100-2e2025 · OWASP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ATLAS technique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precondition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payload/source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expected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248656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248656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Direct injection targets user input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Indirect injection arrives via retrieved content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Evasion perturbs model features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Poisoning targets training/feedback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Adversarial testing follows attacker goals and trust boundaries: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MITRE ATLAS · NIST AI 100-2e2025 · OWASP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Direct injection targets user input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Indirect injection arrives via retrieved content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Evasion perturbs model features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Poisoning targets training/feedback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Poisoning targets training/feedback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Adversarial testing follows attacker goals and trust boundaries: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MITRE ATLAS · NIST AI 100-2e2025 · OWASP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Testing production destructively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data exfiltration canary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Tool-call side effect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Payloads retained in logs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Isolated test tenant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Canary secret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dry-run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Retest closes finding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Adversarial testing follows attacker goals and trust boundaries: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MITRE ATLAS · NIST AI 100-2e2025 · OWASP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Isolated test tenant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Canary secret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Tool dry-run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Retest closes finding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12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Adversarial testing follows attacker goals and trust boundaries: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MITRE ATLAS · NIST AI 100-2e2025 · OWASP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Threat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Test cases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Execute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Remediate/retest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Adversarial testing follows attacker goals and trust boundaries: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MITRE ATLAS · NIST AI 100-2e2025 · OWASP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ATLAS technique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precondition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payload/source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expected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Direct injection targets user 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Isolated test tenant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Indirect injection arrives via retrieved content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Canary secret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Evasion perturbs model features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Tool dry-run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Poisoning targets training/feedback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Retest closes finding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Adversarial testing follows attacker goals and trust boundaries: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MITRE ATLAS · NIST AI 100-2e2025 · OWASP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ATLAS technique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Direct injection targets user input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Testing production destructively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Isolated test tenant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precondition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Indirect injection arrives via retrieved content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No data exfiltration canary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Canary secret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payload/source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Evasion perturbs model features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Tool-call side effect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Tool dry-run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expected control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Poisoning targets training/feedback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Payloads retained in logs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Retest closes finding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Adversarial testing follows attacker goals and trust boundaries: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MITRE ATLAS · NIST AI 100-2e2025 · OWASP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Testing production destructively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ATLAS technique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Isolated test tenant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No data exfiltration canary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precondition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Canary secret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Tool-call side effect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payload/source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Tool dry-run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Payloads retained in logs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expected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Retest closes finding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Adversarial testing follows attacker goals and trust boundaries: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MITRE ATLAS · NIST AI 100-2e2025 · OWASP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Direct injection targets user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Testing production destructively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Isolated test tenant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Indirect injection arrives via retrieved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No data exfiltration canary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Canary secret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Evasion perturbs model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Tool-call side effect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Tool dry-run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Poisoning targets training/feedback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Payloads retained in logs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Retest closes finding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Adversarial testing follows attacker goals and trust boundaries: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MITRE ATLAS · NIST AI 100-2e2025 · OWASP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ATLAS technique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Testing production destructively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Direct injection targets user input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Isolated test tenant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precondition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No data exfiltration canary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Indirect injection arrives via retrieved content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Canary secret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payload/source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Tool-call side effect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Evasion perturbs model features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Tool dry-run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expected control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Payloads retained in logs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Poisoning targets training/feedback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Retest closes finding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4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Privacy and data-loss controls apply before, during and after inference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OWASP LLM Top 10 · NIST Privacy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Discover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Redact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Authorise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Monitor/delete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Prevention starts before the prompt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Privacy and data-loss controls apply before, during and after inference: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OWASP LLM Top 10 · NIST Privacy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secret/PII detectors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token-level redaction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purpose + consent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retention/deletion receipt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Prevention starts before the prompt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Outputs can reconstruct inputs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Logs may be more sensitive than prompts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Deletion spans provider and local stores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Privacy and data-loss controls apply before, during and after inference: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OWASP LLM Top 10 · NIST Privacy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Prevention starts before the prompt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Outputs can reconstruct inputs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Logs may be more sensitive than prompts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Deletion spans provider and local stores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Deletion spans provider and local stores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Privacy and data-loss controls apply before, during and after inference: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OWASP LLM Top 10 · NIST Privacy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Prompt contains API key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Model memorisation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Sensitive output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Debug log leakage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Secret canary blocked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Output DLP test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Log access review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Deletion proof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Privacy and data-loss controls apply before, during and after inference: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OWASP LLM Top 10 · NIST Privacy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Secret canary blocked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Output DLP 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Log access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Deletion proof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8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Privacy and data-loss controls apply before, during and after inference: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OWASP LLM Top 10 · NIST Privacy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Discover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Redact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Authorise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Monitor/delete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Privacy and data-loss controls apply before, during and after inference: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OWASP LLM Top 10 · NIST Privacy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secret/PII detectors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token-level redaction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purpose + consent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retention/deletion receipt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Prevention starts before the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Secret canary blocked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Outputs can reconstruct inputs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Output DLP test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Logs may be more sensitive than prompts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Log access review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Deletion spans provider and local stores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Deletion proof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Privacy and data-loss controls apply before, during and after inference: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OWASP LLM Top 10 · NIST Privacy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secret/PII detectors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Prevention starts before the prompt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Prompt contains API key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Secret canary blocked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token-level redaction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Outputs can reconstruct inputs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Model memorisation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Output DLP test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purpose + consent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Logs may be more sensitive than prompts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Sensitive output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Log access review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retention/deletion receipt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Deletion spans provider and local stores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Debug log leakage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Deletion proof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Privacy and data-loss controls apply before, during and after inference: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OWASP LLM Top 10 · NIST Privacy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Prompt contains API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secret/PII detectors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Secret canary blocked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Model memorisation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token-level redaction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Output DLP 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Sensitive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purpose + consent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Log access review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Debug log leakage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retention/deletion receipt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Deletion proof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Privacy and data-loss controls apply before, during and after inference: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OWASP LLM Top 10 · NIST Privacy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Prevention starts before the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Prompt contains API 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Secret canary blocked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Outputs can reconstruct inputs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Model memorisation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Output DLP 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Logs may be more sensitive than prompts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Sensitive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Log access 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Deletion spans provider and local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Debug log leakage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Deletion proof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Privacy and data-loss controls apply before, during and after inference: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OWASP LLM Top 10 · NIST Privacy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secret/PII detectors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Prompt contains API key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Prevention starts before the prompt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Secret canary blocked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token-level redaction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Model memorisation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Outputs can reconstruct inputs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Output DLP test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purpose + consent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Sensitive output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Logs may be more sensitive than prompts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Log access review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retention/deletion receipt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Debug log leakage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Deletion spans provider and local stores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Deletion proof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4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Standards mapping turns principles into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 · NIST AI RMF 1.0 · ISO/IEC 27001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Requirement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Implementation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Finding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NIST CSF structures cyber outcomes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Standards mapping turns principles into evidence: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 · NIST AI RMF 1.0 · ISO/IEC 27001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framework/function/category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control owner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test frequency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evidence location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NIST CSF structures cyber outcomes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AI RMF covers AI-specific governance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ISO-style controls support assurance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Mapping avoids duplicate evidence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Standards mapping turns principles into evidence: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 · NIST AI RMF 1.0 · ISO/IEC 27001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NIST CSF structures cyber outcomes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AI RMF covers AI-specific governance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ISO-style controls support assurance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Mapping avoids duplicate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Mapping avoids duplicate evidence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Standards mapping turns principles into evidence: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 · NIST AI RMF 1.0 · ISO/IEC 27001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Checkbox mapping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test frequency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Vendor assertion only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Conflicting control owners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Sample evidence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Independent test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Exception record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Management review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Standards mapping turns principles into evidence: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 · NIST AI RMF 1.0 · ISO/IEC 27001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Sample 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Independent 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Exception record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Management review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12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Standards mapping turns principles into evidence: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 · NIST AI RMF 1.0 · ISO/IEC 27001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Requirement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Implementation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Finding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Standards mapping turns principles into evidence: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 · NIST AI RMF 1.0 · ISO/IEC 27001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framework/function/category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control owner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test frequency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evidence 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NIST CSF structures cyber outcomes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Sample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AI RMF covers AI-specific governance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Independent test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ISO-style controls support assurance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Exception record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Mapping avoids duplicate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Management review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Standards mapping turns principles into evidence: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 · NIST AI RMF 1.0 · ISO/IEC 27001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framework/function/category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NIST CSF structures cyber outcomes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Checkbox mapping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Sample 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control owner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AI RMF covers AI-specific governance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No test frequency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Independent test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test frequency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ISO-style controls support assurance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Vendor assertion only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Exception record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evidence location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Mapping avoids duplicate evidence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Conflicting control owners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Management review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Standards mapping turns principles into evidence: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 · NIST AI RMF 1.0 · ISO/IEC 27001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Checkbox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framework/function/category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Sample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No test frequency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control owner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Independent 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Vendor assertion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test frequency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Exception record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Conflicting control owners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evidence location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Management review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Standards mapping turns principles into evidence: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 · NIST AI RMF 1.0 · ISO/IEC 27001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NIST CSF structures cyber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Checkbox mapping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Sample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AI RMF covers AI-specific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No test frequency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Independent 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ISO-style controls support assurance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Vendor assertion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Exception record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Mapping avoids duplicate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Conflicting control owners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Management review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Standards mapping turns principles into evidence: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2.0 · NIST AI RMF 1.0 · ISO/IEC 27001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framework/function/category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Checkbox mapping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NIST CSF structures cyber outcomes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Sample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control owner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No test frequency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AI RMF covers AI-specific governance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Independent test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test frequency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Vendor assertion only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ISO-style controls support assurance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Exception record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evidence location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Conflicting control owners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Mapping avoids duplicate evidence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Management review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4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Continuous assurance combines technical tests and operational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DETECT/RESPOND/IMPROVE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Detection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Scenario exercise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Metric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Improvement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Unit tests catch contract drift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Continuous assurance combines technical tests and operational review: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DETECT/RESPOND/IMPROVE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test id/version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expected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observed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owner/due 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Unit tests catch contract drift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Purple-team tests validate detections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Tabletops validate decisions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Metrics expose operating degradation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Continuous assurance combines technical tests and operational review: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DETECT/RESPOND/IMPROVE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Unit tests catch contract drift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Purple-team tests validate detections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Tabletops validate decisions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Metrics expose operating degradation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Metrics expose operating degradation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Continuous assurance combines technical tests and operational review: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DETECT/RESPOND/IMPROVE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Tests never fail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Synthetic scenario unlike production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Finding closed without evidence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retest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Failure injection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Retest evidence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Backlog trend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Continuous assurance combines technical tests and operational review: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DETECT/RESPOND/IMPROVE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Failure injection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Independent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Retest evidence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Backlog trend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12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Continuous assurance combines technical tests and operational review: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DETECT/RESPOND/IMPROVE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Control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Detection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Scenario exercise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Metric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Improvement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Continuous assurance combines technical tests and operational review: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DETECT/RESPOND/IMPROVE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test id/version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expected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observed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owner/due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Unit tests catch contract drift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Failure injection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Purple-team tests validate detections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Independent review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Tabletops validate decisions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Retest evidence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Metrics expose operating degradation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Backlog trend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Continuous assurance combines technical tests and operational review: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DETECT/RESPOND/IMPROVE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test id/version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Unit tests catch contract drift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Tests never fail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Failure injection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expected result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Purple-team tests validate detections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Synthetic scenario unlike production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observed evidence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Tabletops validate decisions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Finding closed without evidence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Retest 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owner/due date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Metrics expose operating degradation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No retest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Backlog trend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Continuous assurance combines technical tests and operational review: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DETECT/RESPOND/IMPROVE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Tests never fail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test id/version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Failure injection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Synthetic scenario unlike 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expected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Independent 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Finding closed without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observed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Retest evidence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No retest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owner/due 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Backlog trend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Continuous assurance combines technical tests and operational review: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DETECT/RESPOND/IMPROVE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Unit tests catch contract drift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Tests never fail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Failure injection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Purple-team tests validate detections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Synthetic scenario unlike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Independent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Tabletops validate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Finding closed without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Retest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Metrics expose operating degradation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No retest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Backlog trend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Continuous assurance combines technical tests and operational review: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NIST CSF DETECT/RESPOND/IMPROVE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test id/version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Tests never fail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Unit tests catch contract drift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Failure injection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expected result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Synthetic scenario unlike production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Purple-team tests validate detections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Independent review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observed evidence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Finding closed without evidence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Tabletops validate decisions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Retest evidence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owner/due date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No retest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Metrics expose operating degradation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Backlog trend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4 · RUNTIME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Advisory reporting separates facts, inference and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1424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424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Executive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82849" y="3410712"/>
            <a:ext cx="256032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6313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1828800"/>
            <a:ext cx="1878177" cy="91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498" y="2194560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0498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1923" y="3410712"/>
            <a:ext cx="25603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55387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1828800"/>
            <a:ext cx="1878177" cy="91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194560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2547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0996" y="3410712"/>
            <a:ext cx="25603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44460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1828800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8645" y="21945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8645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1620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0070" y="3410712"/>
            <a:ext cx="256032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3534" y="1828800"/>
            <a:ext cx="1878177" cy="3063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182880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097719" y="21945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7719" y="21945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0694" y="3182112"/>
            <a:ext cx="1603857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Recommendation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4224528"/>
            <a:ext cx="1603857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102352"/>
            <a:ext cx="1062532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Facts remain reproducible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FIELDS · FORMULAS ·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Advisory reporting separates facts, inference and recommendations: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6446520" cy="43159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9436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9C0FF"/>
                </a:solidFill>
                <a:latin typeface="Consola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95728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finding +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08960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confidence/limitations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22191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22191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decision owner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4114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35424"/>
            <a:ext cx="53035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A5D6FF"/>
                </a:solidFill>
                <a:latin typeface="Consolas"/>
              </a:rPr>
              <a:t>action/measure/date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691640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691640"/>
            <a:ext cx="82296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8013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Facts remain reproducible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2724912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724912"/>
            <a:ext cx="82296" cy="8686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26096" y="293522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3522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 is labelled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3758183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3758183"/>
            <a:ext cx="82296" cy="8686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6096" y="3968496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96849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3867911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Options expose trade-offs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88352" y="4791456"/>
            <a:ext cx="4105656" cy="868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88352" y="4791456"/>
            <a:ext cx="82296" cy="8686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26096" y="50017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0017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90118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Recommendation has owner and metric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ANALYSIS · TRADE-OFF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Advisory reporting separates facts, inference and recommendations: decision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Facts remain reproducible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Inference is labelled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Options expose trade-offs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Recommendation has owner and metric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Recommendation has owner and metric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 · DIAGNOSTICS ·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Advisory reporting separates facts, inference and recommendations: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4389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FAILURE MODES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468880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AI-generated certainty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55264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limitation statement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41648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Recommendation without cost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28032"/>
            <a:ext cx="384048" cy="384048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follow-up measure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5349240" cy="4389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9019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CONTROL &amp;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468880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688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14016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Source appendix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255264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55264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Assumption register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4041648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416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86784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Management decision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482803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28032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73168"/>
            <a:ext cx="41605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30/60/90-day readback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EVIDENCE · ACCEPTANCE · LAB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Advisory reporting separates facts, inference and recommendations: verification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Source appendix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Assumption register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Management decision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30/60/90-day readback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12 creates a reproducible artifact; detailed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TRUST BOUNDARY · DATA FLOW · CONTROL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Advisory reporting separates facts, inference and recommendations: architecture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00784"/>
            <a:ext cx="199339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1271016" y="2551176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Executive 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2926080"/>
            <a:ext cx="10972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700784"/>
            <a:ext cx="1993392" cy="1097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2551176"/>
            <a:ext cx="768096" cy="768096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2926080"/>
            <a:ext cx="109728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4336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700784"/>
            <a:ext cx="1993392" cy="1097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DECIDE</a:t>
            </a:r>
          </a:p>
        </p:txBody>
      </p:sp>
      <p:sp>
        <p:nvSpPr>
          <p:cNvPr id="29" name="Oval 28"/>
          <p:cNvSpPr/>
          <p:nvPr/>
        </p:nvSpPr>
        <p:spPr>
          <a:xfrm>
            <a:off x="5586983" y="2551176"/>
            <a:ext cx="768096" cy="768096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3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interpreted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86016" y="2926080"/>
            <a:ext cx="109728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32320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700784"/>
            <a:ext cx="1993392" cy="1097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37" name="Oval 36"/>
          <p:cNvSpPr/>
          <p:nvPr/>
        </p:nvSpPr>
        <p:spPr>
          <a:xfrm>
            <a:off x="7744968" y="2551176"/>
            <a:ext cx="768096" cy="768096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8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bounded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2926080"/>
            <a:ext cx="109728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90304" y="1700784"/>
            <a:ext cx="1993392" cy="34930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90304" y="1700784"/>
            <a:ext cx="1993392" cy="1097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1984248"/>
            <a:ext cx="177393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9902952" y="2551176"/>
            <a:ext cx="768096" cy="768096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551176"/>
            <a:ext cx="768096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602736"/>
            <a:ext cx="1682496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Recommendation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4800600"/>
            <a:ext cx="1682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431536"/>
            <a:ext cx="10716768" cy="548640"/>
          </a:xfrm>
          <a:prstGeom prst="rect">
            <a:avLst/>
          </a:prstGeom>
          <a:solidFill>
            <a:srgbClr val="EB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577840"/>
            <a:ext cx="102778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Boundary rule: preserve provenance across every hand-off and bind approval authority to the control gate.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SCHEMA · PROVENANCE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Advisory reporting separates facts, inference and recommendations: evidence artifact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6446520" cy="43708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20240"/>
            <a:ext cx="588873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9C0FF"/>
                </a:solidFill>
                <a:latin typeface="Consolas"/>
              </a:rPr>
              <a:t>ARTIFACT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04872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04872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finding +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54679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confidence/limitations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04487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04487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decision owner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54296"/>
            <a:ext cx="38404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54296"/>
            <a:ext cx="5321808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A5D6FF"/>
                </a:solidFill>
                <a:latin typeface="Consolas"/>
              </a:rPr>
              <a:t>action/measure/date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449824"/>
            <a:ext cx="58338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Immutable input reference · model/rule version · timestamp · named reviewer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68249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682496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80136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FIELD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5564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Facts remain reproducible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8541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Source appendix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73405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2734056"/>
            <a:ext cx="82296" cy="914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85292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FIELD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0720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Inference is labelled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323697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Assumption register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3785615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51775" y="3785615"/>
            <a:ext cx="82296" cy="9144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3904487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FIELD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5876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Options expose trade-offs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28853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Management decision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51775" y="4837176"/>
            <a:ext cx="40233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51775" y="4837176"/>
            <a:ext cx="82296" cy="914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4956048"/>
            <a:ext cx="1024128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FIELD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910328"/>
            <a:ext cx="2578608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Recommendation has owner and metric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5340096"/>
            <a:ext cx="34747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Retain: 30/60/90-day readback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SIGNAL · DECISION EFFECT · FAILURE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Advisory reporting separates facts, inference and recommendations: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937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82496"/>
            <a:ext cx="2724912" cy="4937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810512"/>
            <a:ext cx="25420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 EFFECT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682496"/>
            <a:ext cx="2505456" cy="49377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810512"/>
            <a:ext cx="232257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IF MISREAD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1682496"/>
            <a:ext cx="2743200" cy="4937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181051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3408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finding + source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2677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3408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Facts remain reproducible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2677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408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AI-generated certainty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31936" y="22677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3" y="23408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Source appendix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821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confidence/limitations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31821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552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Inference is labelled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1821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No limitation statement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1936" y="31821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3" y="32552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Assumption register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96512"/>
            <a:ext cx="24140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1696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decision owner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2112" y="4096512"/>
            <a:ext cx="27249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1696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Options expose trade-offs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4096512"/>
            <a:ext cx="25054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696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Recommendation without cost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409651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3" y="41696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Management decision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010912"/>
            <a:ext cx="241401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84064"/>
            <a:ext cx="219456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action/measure/date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2112" y="5010912"/>
            <a:ext cx="2724912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084064"/>
            <a:ext cx="2505456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Recommendation has owner and metric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5010912"/>
            <a:ext cx="2505456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084064"/>
            <a:ext cx="2286000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No follow-up measure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31936" y="5010912"/>
            <a:ext cx="2743200" cy="8229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3" y="5084064"/>
            <a:ext cx="2523744" cy="6766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161B26"/>
                </a:solidFill>
                <a:latin typeface="Arial"/>
              </a:rPr>
              <a:t>30/60/90-day readback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80176"/>
            <a:ext cx="10716768" cy="1463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TEST CONDITION · EXPECTED CONTROL · PASS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Advisory reporting separates facts, inference and recommendations: control test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82496"/>
            <a:ext cx="109728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AI-generated certainty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finding + 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Source appendix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82496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82496"/>
            <a:ext cx="109728" cy="19019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2512" y="1938528"/>
            <a:ext cx="603504" cy="60350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38528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865376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No limitation statement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2322576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confidence/limitations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07208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Assumption register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840480"/>
            <a:ext cx="109728" cy="19019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096512"/>
            <a:ext cx="603504" cy="60350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Recommendation without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decision owner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Management decision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5230368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840480"/>
            <a:ext cx="109728" cy="190195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96512"/>
            <a:ext cx="603504" cy="60350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023360"/>
            <a:ext cx="391363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61B26"/>
                </a:solidFill>
                <a:latin typeface="Arial"/>
              </a:rPr>
              <a:t>No follow-up measure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480560"/>
            <a:ext cx="3913632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B6372"/>
                </a:solidFill>
                <a:latin typeface="Arial"/>
              </a:rPr>
              <a:t>Condition: action/measure/date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4965192"/>
            <a:ext cx="3913632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Pass evidence: 30/60/90-day readback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062472"/>
            <a:ext cx="10716768" cy="7315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7600"/>
                </a:solidFill>
                <a:latin typeface="Arial"/>
              </a:rPr>
              <a:t>VALUE · RISK · OPERABILITY · HUMAN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Advisory reporting separates facts, inference and recommendations: operating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CHOICE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Facts remain reproducible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AI-generated certainty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Source appendix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00784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92808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3FD2"/>
                </a:solidFill>
                <a:latin typeface="Arial"/>
              </a:rPr>
              <a:t>CHOICE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865376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Inference is labelled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No limitation statement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Assumption register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8A73"/>
                </a:solidFill>
                <a:latin typeface="Arial"/>
              </a:rPr>
              <a:t>CHOICE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Options expose trade-offs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Recommendation without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Management decision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248656" cy="1828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14215"/>
            <a:ext cx="1170432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845B"/>
                </a:solidFill>
                <a:latin typeface="Arial"/>
              </a:rPr>
              <a:t>CHOICE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986783"/>
            <a:ext cx="360273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61B26"/>
                </a:solidFill>
                <a:latin typeface="Arial"/>
              </a:rPr>
              <a:t>Recommendation has owner and metric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90288"/>
            <a:ext cx="47365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C2413A"/>
                </a:solidFill>
                <a:latin typeface="Arial"/>
              </a:rPr>
              <a:t>Trade-off: No follow-up measure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65776"/>
            <a:ext cx="4736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845B"/>
                </a:solidFill>
                <a:latin typeface="Arial"/>
              </a:rPr>
              <a:t>Guardrail: 30/60/90-day readback</a:t>
            </a:r>
          </a:p>
        </p:txBody>
      </p:sp>
      <p:sp>
        <p:nvSpPr>
          <p:cNvPr id="30" name="Oval 29"/>
          <p:cNvSpPr/>
          <p:nvPr/>
        </p:nvSpPr>
        <p:spPr>
          <a:xfrm>
            <a:off x="5202936" y="2971800"/>
            <a:ext cx="1773936" cy="6766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3035808"/>
            <a:ext cx="1609344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REVIEWED
OPERATING POINT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OBSERVATION → INTERPRETATION → DECISION → RETAINED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Advisory reporting separates facts, inference and recommendations: evidence-to-decision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82496"/>
            <a:ext cx="2414016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82496"/>
            <a:ext cx="2414016" cy="4389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INTERPRET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682496"/>
            <a:ext cx="2414016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8784" y="1682496"/>
            <a:ext cx="2414016" cy="4389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92224"/>
            <a:ext cx="223113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finding + source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90672" y="2633472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AI-generated certainty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144" y="2633472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25312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Facts remain reproducible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57616" y="2633472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8784" y="2231136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1" y="229514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Source appendix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confidence/limitations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90672" y="3566160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91840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No limitation statement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24144" y="3566160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25312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Inference is labelled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57616" y="3566160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58784" y="3163824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1" y="322783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Assumption register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decision owner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90672" y="4498848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91840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1568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Recommendation without cost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4144" y="4498848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25312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Options expose trade-offs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57616" y="4498848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58784" y="4096512"/>
            <a:ext cx="2414016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8511" y="416052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Management decision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action/measure/date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90672" y="5431536"/>
            <a:ext cx="16459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91840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61B26"/>
                </a:solidFill>
                <a:latin typeface="Arial"/>
              </a:rPr>
              <a:t>No follow-up measure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24144" y="5431536"/>
            <a:ext cx="164592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25312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Recommendation has owner and metric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7616" y="5431536"/>
            <a:ext cx="164592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558784" y="5029200"/>
            <a:ext cx="2414016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8511" y="509320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30/60/90-day readback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6053328"/>
            <a:ext cx="10716768" cy="7315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HANDS-ON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12: Monitor Model Effectiveness and Produce Advice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Aligned to LO4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9326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56231"/>
            <a:ext cx="1019556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Measure detection quality, identify drift and control failures, then issue evidence-backed adoption advice.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871216"/>
            <a:ext cx="248716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" y="3154680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Inspect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2871216"/>
            <a:ext cx="2487168" cy="8229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3154680"/>
            <a:ext cx="475488" cy="475488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Build mechanism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2871216"/>
            <a:ext cx="2487168" cy="8229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45936" y="3154680"/>
            <a:ext cx="475488" cy="475488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 boundary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2871216"/>
            <a:ext cx="2487168" cy="14813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2871216"/>
            <a:ext cx="2487168" cy="8229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89136" y="3154680"/>
            <a:ext cx="475488" cy="47548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3154680"/>
            <a:ext cx="475488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063240"/>
            <a:ext cx="1444752" cy="7040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Explain result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645152"/>
            <a:ext cx="10835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1248" y="4791456"/>
            <a:ext cx="1143000" cy="5029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791456"/>
            <a:ext cx="11430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4773168"/>
            <a:ext cx="90068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monitoring_report.json and advisory_report.md.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5148072"/>
            <a:ext cx="9006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Python 3 · pandas · scikit-learn metrics · Cryptography Toolkit · steps in Learner Guide and individual lab folder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ACCEPTANCE CRITERIA · FAILURE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12 verification: prove the control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Aligned to LO4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755648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70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1828800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Metrics include class prevalence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2688336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0704" y="283464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28346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2" y="2761488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Drift is diagnostic, not automatic retraining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3621024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0704" y="37673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376732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3694176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Advice separates fact/inference/recommendation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4553712"/>
            <a:ext cx="10442448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700016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70001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4626864"/>
            <a:ext cx="90982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Each action has owner and measure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" y="5559552"/>
            <a:ext cx="10442448" cy="5029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5660136"/>
            <a:ext cx="99669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6845B"/>
                </a:solidFill>
                <a:latin typeface="Arial"/>
              </a:rPr>
              <a:t>Capture configuration, output, evidence reference and analyst decision - not screenshots alone.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5230368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28016" cy="4343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i-governance-human-over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616" y="1325880"/>
            <a:ext cx="5422392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1828800"/>
            <a:ext cx="4370832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845B"/>
                </a:solidFill>
                <a:latin typeface="Arial"/>
              </a:rPr>
              <a:t>COURSE 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76856"/>
            <a:ext cx="437083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From AI output to defensible security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86200"/>
            <a:ext cx="4370832" cy="10241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Evidence · human accountability · guarded automation · continuous assurance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ACSC et al. 2026 · NIST AI RMF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394</a:t>
            </a:r>
          </a:p>
        </p:txBody>
      </p:sp>
    </p:spTree>
  </p:cSld>
  <p:clrMapOvr>
    <a:masterClrMapping/>
  </p:clrMapOvr>
  <p:transition spd="fast" advClick="1">
    <p:push/>
  </p:transition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PRIMARY AND AUTHORITATIVE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Selected Sources (1/3)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Course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ACSC et al. (2026)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Opportunities for AI in cyber defence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NIST (2024)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Cybersecurity Framework 2.0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NIST (2023)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AI Risk Management Framework 1.0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NIST (2025)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Adversarial Machine Learning Taxonomy and Terminology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Full URLs, document titles and retrieval date are listed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PRIMARY AND AUTHORITATIVE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Selected Sources (2/3)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Course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OWASP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Top 10 for Large Language Model Applications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CISA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Secure by Design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Google Cloud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AI for Security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IBM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AI cybersecurity solutions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Full URLs, document titles and retrieval date are listed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PRIMARY AND AUTHORITATIVE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Selected Sources (3/3)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Course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Alfred 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Cybersecurity Threat Simulation Lab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Alfred Ang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Hacklab: Ethical Hacking Lab Simulator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Tertiary Infotech Academy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FauxBank Cybersecurity Training Simulation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Alfred Ang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Cryptography Toolkit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Full URLs, document titles and retrieval date are listed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8356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COURSE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126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6364224"/>
            <a:ext cx="70408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Course administration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468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Rate the topics, slides and examples.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4688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Tell us which labs worked and which need more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468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Pacing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Comment on the two-day pacing and delivery.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468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4688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47088"/>
            <a:ext cx="153619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Improve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432304"/>
            <a:ext cx="1993392" cy="1444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Suggest one change for the next run.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16552"/>
            <a:ext cx="10835640" cy="1188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10241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THE DECISION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101498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Use the feedback link or QR code shared by your trainer.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1083564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2801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80960" y="1828800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19872" y="1828800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58784" y="1828800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97696" y="1828800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36608" y="1828800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75520" y="1828800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14432" y="1828800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80960" y="2414016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119872" y="2414016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58784" y="2414016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97696" y="2414016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36608" y="2414016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75520" y="2414016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14432" y="2414016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80960" y="2999232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19872" y="2999232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58784" y="2999232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97696" y="2999232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36608" y="2999232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75520" y="2999232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14432" y="2999232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80960" y="3584448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19872" y="3584448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58784" y="3584448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97696" y="3584448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36608" y="3584448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875520" y="3584448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14432" y="3584448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1828800"/>
            <a:ext cx="60807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THANK YOU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2276856"/>
            <a:ext cx="6080760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Secure decisions need evidence, boundaries and accountable people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3886200"/>
            <a:ext cx="6080760" cy="10241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enquiry@tertiaryinfotech.com · +65 6100 0613 · www.tertiarycourses.com.sg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64224"/>
            <a:ext cx="34747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AI for Cyber Security · C434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64224"/>
            <a:ext cx="502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399</a:t>
            </a:r>
          </a:p>
        </p:txBody>
      </p:sp>
    </p:spTree>
  </p:cSld>
  <p:clrMapOvr>
    <a:masterClrMapping/>
  </p:clrMapOvr>
  <p:transition spd="fast" advClick="1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Cyber Security</dc:title>
  <dc:subject/>
  <dc:creator>Tertiary Infotech Academy Pte Ltd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